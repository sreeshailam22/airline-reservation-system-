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74" r:id="rId2"/>
    <p:sldId id="256" r:id="rId3"/>
    <p:sldId id="257" r:id="rId4"/>
    <p:sldId id="258" r:id="rId5"/>
    <p:sldId id="259" r:id="rId6"/>
    <p:sldId id="260" r:id="rId7"/>
    <p:sldId id="261" r:id="rId8"/>
    <p:sldId id="266" r:id="rId9"/>
    <p:sldId id="267" r:id="rId10"/>
    <p:sldId id="276" r:id="rId11"/>
    <p:sldId id="262" r:id="rId12"/>
    <p:sldId id="263" r:id="rId13"/>
    <p:sldId id="264" r:id="rId14"/>
    <p:sldId id="265" r:id="rId15"/>
    <p:sldId id="268" r:id="rId16"/>
    <p:sldId id="269" r:id="rId17"/>
    <p:sldId id="270" r:id="rId18"/>
    <p:sldId id="272" r:id="rId19"/>
  </p:sldIdLst>
  <p:sldSz cx="18288000" cy="10287000"/>
  <p:notesSz cx="6858000" cy="9144000"/>
  <p:embeddedFontLst>
    <p:embeddedFont>
      <p:font typeface="Open Sans" panose="020B0606030504020204" pitchFamily="34" charset="0"/>
      <p:regular r:id="rId20"/>
      <p:bold r:id="rId21"/>
      <p:italic r:id="rId22"/>
      <p:boldItalic r:id="rId23"/>
    </p:embeddedFont>
    <p:embeddedFont>
      <p:font typeface="Open Sans Bold" panose="020B0806030504020204" charset="0"/>
      <p:regular r:id="rId24"/>
      <p:bold r:id="rId25"/>
    </p:embeddedFont>
    <p:embeddedFont>
      <p:font typeface="Open Sans Extra Bold" panose="020B0604020202020204" charset="0"/>
      <p:regular r:id="rId26"/>
    </p:embeddedFont>
    <p:embeddedFont>
      <p:font typeface="Public Sans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thalla8@outlook.com" userId="f875e49af4ef23a1" providerId="LiveId" clId="{9F649B66-7361-4ADF-8762-32ADD365239B}"/>
    <pc:docChg chg="modSld">
      <pc:chgData name="vigneshthalla8@outlook.com" userId="f875e49af4ef23a1" providerId="LiveId" clId="{9F649B66-7361-4ADF-8762-32ADD365239B}" dt="2024-12-08T14:12:14.091" v="3" actId="1076"/>
      <pc:docMkLst>
        <pc:docMk/>
      </pc:docMkLst>
      <pc:sldChg chg="modSp mod">
        <pc:chgData name="vigneshthalla8@outlook.com" userId="f875e49af4ef23a1" providerId="LiveId" clId="{9F649B66-7361-4ADF-8762-32ADD365239B}" dt="2024-12-08T14:12:14.091" v="3" actId="1076"/>
        <pc:sldMkLst>
          <pc:docMk/>
          <pc:sldMk cId="3698689542" sldId="274"/>
        </pc:sldMkLst>
        <pc:picChg chg="mod">
          <ac:chgData name="vigneshthalla8@outlook.com" userId="f875e49af4ef23a1" providerId="LiveId" clId="{9F649B66-7361-4ADF-8762-32ADD365239B}" dt="2024-12-08T14:12:14.091" v="3" actId="1076"/>
          <ac:picMkLst>
            <pc:docMk/>
            <pc:sldMk cId="3698689542" sldId="274"/>
            <ac:picMk id="2" creationId="{73E2A966-42E9-009E-2911-5BEBC2643B2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pic>
        <p:nvPicPr>
          <p:cNvPr id="2" name="Picture 1" descr="A card with a picture of a globe and a plane&#10;&#10;Description automatically generated">
            <a:extLst>
              <a:ext uri="{FF2B5EF4-FFF2-40B4-BE49-F238E27FC236}">
                <a16:creationId xmlns:a16="http://schemas.microsoft.com/office/drawing/2014/main" id="{73E2A966-42E9-009E-2911-5BEBC2643B29}"/>
              </a:ext>
            </a:extLst>
          </p:cNvPr>
          <p:cNvPicPr>
            <a:picLocks noChangeAspect="1"/>
          </p:cNvPicPr>
          <p:nvPr/>
        </p:nvPicPr>
        <p:blipFill>
          <a:blip r:embed="rId2"/>
          <a:stretch>
            <a:fillRect/>
          </a:stretch>
        </p:blipFill>
        <p:spPr>
          <a:xfrm>
            <a:off x="0" y="0"/>
            <a:ext cx="18276453" cy="10246589"/>
          </a:xfrm>
          <a:prstGeom prst="rect">
            <a:avLst/>
          </a:prstGeom>
        </p:spPr>
      </p:pic>
    </p:spTree>
    <p:extLst>
      <p:ext uri="{BB962C8B-B14F-4D97-AF65-F5344CB8AC3E}">
        <p14:creationId xmlns:p14="http://schemas.microsoft.com/office/powerpoint/2010/main" val="3698689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2" name="Freeform 2"/>
          <p:cNvSpPr/>
          <p:nvPr/>
        </p:nvSpPr>
        <p:spPr>
          <a:xfrm>
            <a:off x="11637481" y="-31813"/>
            <a:ext cx="6650519" cy="10318813"/>
          </a:xfrm>
          <a:custGeom>
            <a:avLst/>
            <a:gdLst/>
            <a:ahLst/>
            <a:cxnLst/>
            <a:rect l="l" t="t" r="r" b="b"/>
            <a:pathLst>
              <a:path w="6650519" h="10318813">
                <a:moveTo>
                  <a:pt x="0" y="0"/>
                </a:moveTo>
                <a:lnTo>
                  <a:pt x="6650519" y="0"/>
                </a:lnTo>
                <a:lnTo>
                  <a:pt x="6650519" y="10318813"/>
                </a:lnTo>
                <a:lnTo>
                  <a:pt x="0" y="10318813"/>
                </a:lnTo>
                <a:lnTo>
                  <a:pt x="0" y="0"/>
                </a:lnTo>
                <a:close/>
              </a:path>
            </a:pathLst>
          </a:custGeom>
          <a:blipFill>
            <a:blip r:embed="rId2"/>
            <a:stretch>
              <a:fillRect l="-106455" r="-26864"/>
            </a:stretch>
          </a:blipFill>
        </p:spPr>
      </p:sp>
      <p:grpSp>
        <p:nvGrpSpPr>
          <p:cNvPr id="3" name="Group 3"/>
          <p:cNvGrpSpPr/>
          <p:nvPr/>
        </p:nvGrpSpPr>
        <p:grpSpPr>
          <a:xfrm>
            <a:off x="6281969" y="5322155"/>
            <a:ext cx="5065415" cy="506541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BBE6"/>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824459" y="1466127"/>
            <a:ext cx="5065415" cy="506541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BBE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a:grpSpLocks noChangeAspect="1"/>
          </p:cNvGrpSpPr>
          <p:nvPr/>
        </p:nvGrpSpPr>
        <p:grpSpPr>
          <a:xfrm>
            <a:off x="6693484" y="5802950"/>
            <a:ext cx="4265477" cy="4265460"/>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24999" r="-24999"/>
              </a:stretch>
            </a:blipFill>
          </p:spPr>
        </p:sp>
      </p:grpSp>
      <p:grpSp>
        <p:nvGrpSpPr>
          <p:cNvPr id="11" name="Group 11"/>
          <p:cNvGrpSpPr>
            <a:grpSpLocks noChangeAspect="1"/>
          </p:cNvGrpSpPr>
          <p:nvPr/>
        </p:nvGrpSpPr>
        <p:grpSpPr>
          <a:xfrm>
            <a:off x="9224428" y="1866104"/>
            <a:ext cx="4265477" cy="4265460"/>
            <a:chOff x="0" y="0"/>
            <a:chExt cx="6350000" cy="6349975"/>
          </a:xfrm>
        </p:grpSpPr>
        <p:sp>
          <p:nvSpPr>
            <p:cNvPr id="12" name="Freeform 12"/>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24626" r="-24626"/>
              </a:stretch>
            </a:blipFill>
          </p:spPr>
        </p:sp>
      </p:grpSp>
      <p:sp>
        <p:nvSpPr>
          <p:cNvPr id="13" name="Freeform 13"/>
          <p:cNvSpPr/>
          <p:nvPr/>
        </p:nvSpPr>
        <p:spPr>
          <a:xfrm>
            <a:off x="5585120" y="600612"/>
            <a:ext cx="4665446" cy="1720383"/>
          </a:xfrm>
          <a:custGeom>
            <a:avLst/>
            <a:gdLst/>
            <a:ahLst/>
            <a:cxnLst/>
            <a:rect l="l" t="t" r="r" b="b"/>
            <a:pathLst>
              <a:path w="4665446" h="1720383">
                <a:moveTo>
                  <a:pt x="0" y="0"/>
                </a:moveTo>
                <a:lnTo>
                  <a:pt x="4665445" y="0"/>
                </a:lnTo>
                <a:lnTo>
                  <a:pt x="4665445" y="1720383"/>
                </a:lnTo>
                <a:lnTo>
                  <a:pt x="0" y="172038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2549117" y="7783268"/>
            <a:ext cx="1614580" cy="1614580"/>
          </a:xfrm>
          <a:custGeom>
            <a:avLst/>
            <a:gdLst/>
            <a:ahLst/>
            <a:cxnLst/>
            <a:rect l="l" t="t" r="r" b="b"/>
            <a:pathLst>
              <a:path w="1614580" h="1614580">
                <a:moveTo>
                  <a:pt x="0" y="0"/>
                </a:moveTo>
                <a:lnTo>
                  <a:pt x="1614580" y="0"/>
                </a:lnTo>
                <a:lnTo>
                  <a:pt x="1614580" y="1614580"/>
                </a:lnTo>
                <a:lnTo>
                  <a:pt x="0" y="16145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TextBox 15"/>
          <p:cNvSpPr txBox="1"/>
          <p:nvPr/>
        </p:nvSpPr>
        <p:spPr>
          <a:xfrm>
            <a:off x="328934" y="691284"/>
            <a:ext cx="9343817" cy="5118837"/>
          </a:xfrm>
          <a:prstGeom prst="rect">
            <a:avLst/>
          </a:prstGeom>
        </p:spPr>
        <p:txBody>
          <a:bodyPr lIns="0" tIns="0" rIns="0" bIns="0" rtlCol="0" anchor="t">
            <a:spAutoFit/>
          </a:bodyPr>
          <a:lstStyle/>
          <a:p>
            <a:pPr>
              <a:lnSpc>
                <a:spcPts val="22093"/>
              </a:lnSpc>
            </a:pPr>
            <a:r>
              <a:rPr lang="en-US" sz="8800" dirty="0">
                <a:solidFill>
                  <a:srgbClr val="FFFFFF"/>
                </a:solidFill>
                <a:latin typeface="Times New Roman"/>
                <a:cs typeface="Times New Roman"/>
              </a:rPr>
              <a:t>AIRLINE</a:t>
            </a:r>
            <a:r>
              <a:rPr lang="en-US" sz="8800" dirty="0">
                <a:solidFill>
                  <a:srgbClr val="FFFFFF"/>
                </a:solidFill>
                <a:latin typeface="Public Sans Bold"/>
              </a:rPr>
              <a:t> </a:t>
            </a:r>
          </a:p>
          <a:p>
            <a:pPr>
              <a:lnSpc>
                <a:spcPts val="22093"/>
              </a:lnSpc>
            </a:pPr>
            <a:endParaRPr lang="en-US" sz="5400" dirty="0">
              <a:solidFill>
                <a:srgbClr val="FFFFFF"/>
              </a:solidFill>
              <a:latin typeface="Public Sans Bold"/>
            </a:endParaRPr>
          </a:p>
        </p:txBody>
      </p:sp>
      <p:sp>
        <p:nvSpPr>
          <p:cNvPr id="16" name="TextBox 16"/>
          <p:cNvSpPr txBox="1"/>
          <p:nvPr/>
        </p:nvSpPr>
        <p:spPr>
          <a:xfrm>
            <a:off x="323258" y="2948585"/>
            <a:ext cx="10332805" cy="3828036"/>
          </a:xfrm>
          <a:prstGeom prst="rect">
            <a:avLst/>
          </a:prstGeom>
        </p:spPr>
        <p:txBody>
          <a:bodyPr wrap="square" lIns="0" tIns="0" rIns="0" bIns="0" rtlCol="0" anchor="t">
            <a:spAutoFit/>
          </a:bodyPr>
          <a:lstStyle/>
          <a:p>
            <a:pPr algn="l">
              <a:lnSpc>
                <a:spcPts val="15554"/>
              </a:lnSpc>
            </a:pPr>
            <a:r>
              <a:rPr lang="en-US" sz="8800" dirty="0">
                <a:solidFill>
                  <a:srgbClr val="FFFFFF"/>
                </a:solidFill>
                <a:latin typeface="Times New Roman"/>
                <a:cs typeface="Times New Roman"/>
              </a:rPr>
              <a:t>RESERVATION</a:t>
            </a:r>
          </a:p>
          <a:p>
            <a:pPr>
              <a:lnSpc>
                <a:spcPts val="15554"/>
              </a:lnSpc>
            </a:pPr>
            <a:r>
              <a:rPr lang="en-US" sz="8800" dirty="0">
                <a:solidFill>
                  <a:srgbClr val="FFFFFF"/>
                </a:solidFill>
                <a:latin typeface="Times New Roman"/>
                <a:cs typeface="Times New Roman"/>
              </a:rPr>
              <a:t>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2" name="Freeform 2"/>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7247678" flipV="1">
            <a:off x="-230534" y="854682"/>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7247678" flipV="1">
            <a:off x="-230534" y="-696891"/>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763244" y="4267761"/>
            <a:ext cx="7597650" cy="1779149"/>
            <a:chOff x="0" y="0"/>
            <a:chExt cx="1628282" cy="381296"/>
          </a:xfrm>
        </p:grpSpPr>
        <p:sp>
          <p:nvSpPr>
            <p:cNvPr id="7" name="Freeform 7"/>
            <p:cNvSpPr/>
            <p:nvPr/>
          </p:nvSpPr>
          <p:spPr>
            <a:xfrm>
              <a:off x="0" y="0"/>
              <a:ext cx="1628282" cy="381296"/>
            </a:xfrm>
            <a:custGeom>
              <a:avLst/>
              <a:gdLst/>
              <a:ahLst/>
              <a:cxnLst/>
              <a:rect l="l" t="t" r="r" b="b"/>
              <a:pathLst>
                <a:path w="1628282" h="381296">
                  <a:moveTo>
                    <a:pt x="0" y="0"/>
                  </a:moveTo>
                  <a:lnTo>
                    <a:pt x="1628282" y="0"/>
                  </a:lnTo>
                  <a:lnTo>
                    <a:pt x="1628282" y="381296"/>
                  </a:lnTo>
                  <a:lnTo>
                    <a:pt x="0" y="381296"/>
                  </a:lnTo>
                  <a:close/>
                </a:path>
              </a:pathLst>
            </a:custGeom>
            <a:solidFill>
              <a:srgbClr val="91BBE6"/>
            </a:solidFill>
          </p:spPr>
        </p:sp>
        <p:sp>
          <p:nvSpPr>
            <p:cNvPr id="8" name="TextBox 8"/>
            <p:cNvSpPr txBox="1"/>
            <p:nvPr/>
          </p:nvSpPr>
          <p:spPr>
            <a:xfrm>
              <a:off x="0" y="-38100"/>
              <a:ext cx="1628282" cy="419396"/>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65284" y="4426745"/>
            <a:ext cx="6962761" cy="1427175"/>
            <a:chOff x="0" y="0"/>
            <a:chExt cx="1492217" cy="305863"/>
          </a:xfrm>
        </p:grpSpPr>
        <p:sp>
          <p:nvSpPr>
            <p:cNvPr id="10" name="Freeform 10"/>
            <p:cNvSpPr/>
            <p:nvPr/>
          </p:nvSpPr>
          <p:spPr>
            <a:xfrm>
              <a:off x="0" y="0"/>
              <a:ext cx="1492217" cy="305863"/>
            </a:xfrm>
            <a:custGeom>
              <a:avLst/>
              <a:gdLst/>
              <a:ahLst/>
              <a:cxnLst/>
              <a:rect l="l" t="t" r="r" b="b"/>
              <a:pathLst>
                <a:path w="1492217" h="305863">
                  <a:moveTo>
                    <a:pt x="0" y="0"/>
                  </a:moveTo>
                  <a:lnTo>
                    <a:pt x="1492217" y="0"/>
                  </a:lnTo>
                  <a:lnTo>
                    <a:pt x="1492217" y="305863"/>
                  </a:lnTo>
                  <a:lnTo>
                    <a:pt x="0" y="305863"/>
                  </a:lnTo>
                  <a:close/>
                </a:path>
              </a:pathLst>
            </a:custGeom>
            <a:solidFill>
              <a:srgbClr val="FFFFFF"/>
            </a:solidFill>
          </p:spPr>
        </p:sp>
        <p:sp>
          <p:nvSpPr>
            <p:cNvPr id="11" name="TextBox 11"/>
            <p:cNvSpPr txBox="1"/>
            <p:nvPr/>
          </p:nvSpPr>
          <p:spPr>
            <a:xfrm>
              <a:off x="0" y="-38100"/>
              <a:ext cx="1492217" cy="343963"/>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9774119" y="1259498"/>
            <a:ext cx="5637473" cy="7774786"/>
            <a:chOff x="0" y="0"/>
            <a:chExt cx="736600" cy="867621"/>
          </a:xfrm>
        </p:grpSpPr>
        <p:sp>
          <p:nvSpPr>
            <p:cNvPr id="13" name="Freeform 13"/>
            <p:cNvSpPr/>
            <p:nvPr/>
          </p:nvSpPr>
          <p:spPr>
            <a:xfrm>
              <a:off x="0" y="0"/>
              <a:ext cx="736600" cy="867621"/>
            </a:xfrm>
            <a:custGeom>
              <a:avLst/>
              <a:gdLst/>
              <a:ahLst/>
              <a:cxnLst/>
              <a:rect l="l" t="t" r="r" b="b"/>
              <a:pathLst>
                <a:path w="736600" h="867621">
                  <a:moveTo>
                    <a:pt x="736600" y="0"/>
                  </a:moveTo>
                  <a:lnTo>
                    <a:pt x="736600" y="867621"/>
                  </a:lnTo>
                  <a:lnTo>
                    <a:pt x="368300" y="740621"/>
                  </a:lnTo>
                  <a:lnTo>
                    <a:pt x="0" y="867621"/>
                  </a:lnTo>
                  <a:lnTo>
                    <a:pt x="0" y="0"/>
                  </a:lnTo>
                  <a:lnTo>
                    <a:pt x="736600" y="0"/>
                  </a:lnTo>
                  <a:close/>
                </a:path>
              </a:pathLst>
            </a:custGeom>
            <a:solidFill>
              <a:srgbClr val="FFFFFF"/>
            </a:solidFill>
          </p:spPr>
        </p:sp>
        <p:sp>
          <p:nvSpPr>
            <p:cNvPr id="14" name="TextBox 14"/>
            <p:cNvSpPr txBox="1"/>
            <p:nvPr/>
          </p:nvSpPr>
          <p:spPr>
            <a:xfrm>
              <a:off x="0" y="-47625"/>
              <a:ext cx="736600" cy="788246"/>
            </a:xfrm>
            <a:prstGeom prst="rect">
              <a:avLst/>
            </a:prstGeom>
          </p:spPr>
          <p:txBody>
            <a:bodyPr lIns="50800" tIns="50800" rIns="50800" bIns="50800" rtlCol="0" anchor="ctr"/>
            <a:lstStyle/>
            <a:p>
              <a:pPr algn="ctr">
                <a:lnSpc>
                  <a:spcPts val="3272"/>
                </a:lnSpc>
              </a:pPr>
              <a:endParaRPr/>
            </a:p>
          </p:txBody>
        </p:sp>
      </p:grpSp>
      <p:sp>
        <p:nvSpPr>
          <p:cNvPr id="15" name="Freeform 15"/>
          <p:cNvSpPr/>
          <p:nvPr/>
        </p:nvSpPr>
        <p:spPr>
          <a:xfrm flipV="1">
            <a:off x="3489388" y="6256460"/>
            <a:ext cx="3656164" cy="3190003"/>
          </a:xfrm>
          <a:custGeom>
            <a:avLst/>
            <a:gdLst/>
            <a:ahLst/>
            <a:cxnLst/>
            <a:rect l="l" t="t" r="r" b="b"/>
            <a:pathLst>
              <a:path w="3656164" h="3190003">
                <a:moveTo>
                  <a:pt x="0" y="3190003"/>
                </a:moveTo>
                <a:lnTo>
                  <a:pt x="3656164" y="3190003"/>
                </a:lnTo>
                <a:lnTo>
                  <a:pt x="3656164" y="0"/>
                </a:lnTo>
                <a:lnTo>
                  <a:pt x="0" y="0"/>
                </a:lnTo>
                <a:lnTo>
                  <a:pt x="0" y="319000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a:off x="3489388" y="1028700"/>
            <a:ext cx="3656164" cy="3190003"/>
          </a:xfrm>
          <a:custGeom>
            <a:avLst/>
            <a:gdLst/>
            <a:ahLst/>
            <a:cxnLst/>
            <a:rect l="l" t="t" r="r" b="b"/>
            <a:pathLst>
              <a:path w="3656164" h="3190003">
                <a:moveTo>
                  <a:pt x="0" y="0"/>
                </a:moveTo>
                <a:lnTo>
                  <a:pt x="3656164" y="0"/>
                </a:lnTo>
                <a:lnTo>
                  <a:pt x="3656164" y="3190003"/>
                </a:lnTo>
                <a:lnTo>
                  <a:pt x="0" y="31900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763244" y="4541917"/>
            <a:ext cx="7597650" cy="1035304"/>
          </a:xfrm>
          <a:prstGeom prst="rect">
            <a:avLst/>
          </a:prstGeom>
        </p:spPr>
        <p:txBody>
          <a:bodyPr lIns="0" tIns="0" rIns="0" bIns="0" rtlCol="0" anchor="t">
            <a:spAutoFit/>
          </a:bodyPr>
          <a:lstStyle/>
          <a:p>
            <a:pPr algn="ctr">
              <a:lnSpc>
                <a:spcPts val="8460"/>
              </a:lnSpc>
            </a:pPr>
            <a:r>
              <a:rPr lang="en-US" sz="6000" dirty="0">
                <a:solidFill>
                  <a:srgbClr val="000000"/>
                </a:solidFill>
                <a:latin typeface="Open Sans Extra Bold"/>
              </a:rPr>
              <a:t> CONTENT</a:t>
            </a:r>
          </a:p>
        </p:txBody>
      </p:sp>
      <p:sp>
        <p:nvSpPr>
          <p:cNvPr id="18" name="TextBox 18"/>
          <p:cNvSpPr txBox="1"/>
          <p:nvPr/>
        </p:nvSpPr>
        <p:spPr>
          <a:xfrm>
            <a:off x="10307534" y="1684052"/>
            <a:ext cx="4801552" cy="6168355"/>
          </a:xfrm>
          <a:prstGeom prst="rect">
            <a:avLst/>
          </a:prstGeom>
        </p:spPr>
        <p:txBody>
          <a:bodyPr lIns="0" tIns="0" rIns="0" bIns="0" rtlCol="0" anchor="t">
            <a:spAutoFit/>
          </a:bodyPr>
          <a:lstStyle/>
          <a:p>
            <a:pPr marL="675005" lvl="1" indent="-337185" algn="l">
              <a:lnSpc>
                <a:spcPts val="4377"/>
              </a:lnSpc>
              <a:buFont typeface="Arial"/>
              <a:buChar char="•"/>
            </a:pPr>
            <a:r>
              <a:rPr lang="en-US" sz="3100" dirty="0">
                <a:latin typeface="Open Sans Bold"/>
                <a:ea typeface="Open Sans Bold"/>
                <a:cs typeface="Open Sans Bold"/>
              </a:rPr>
              <a:t>Abstract</a:t>
            </a:r>
          </a:p>
          <a:p>
            <a:pPr marL="675005" lvl="1" indent="-337185" algn="l">
              <a:lnSpc>
                <a:spcPts val="4377"/>
              </a:lnSpc>
              <a:buFont typeface="Arial"/>
              <a:buChar char="•"/>
            </a:pPr>
            <a:r>
              <a:rPr lang="en-US" sz="3100" dirty="0">
                <a:solidFill>
                  <a:srgbClr val="000000"/>
                </a:solidFill>
                <a:latin typeface="Open Sans Bold"/>
                <a:ea typeface="Open Sans Bold"/>
                <a:cs typeface="Open Sans Bold"/>
              </a:rPr>
              <a:t>Introduction</a:t>
            </a:r>
          </a:p>
          <a:p>
            <a:pPr marL="675005" lvl="1" indent="-337185">
              <a:lnSpc>
                <a:spcPts val="4377"/>
              </a:lnSpc>
              <a:buFont typeface="Arial"/>
              <a:buChar char="•"/>
            </a:pPr>
            <a:r>
              <a:rPr lang="en-US" sz="3100" dirty="0">
                <a:solidFill>
                  <a:srgbClr val="000000"/>
                </a:solidFill>
                <a:latin typeface="Open Sans Bold"/>
                <a:ea typeface="Open Sans Bold"/>
                <a:cs typeface="Open Sans Bold"/>
              </a:rPr>
              <a:t>Booking Process</a:t>
            </a:r>
          </a:p>
          <a:p>
            <a:pPr marL="675005" lvl="1" indent="-337185">
              <a:lnSpc>
                <a:spcPts val="4377"/>
              </a:lnSpc>
              <a:buFont typeface="Arial"/>
              <a:buChar char="•"/>
            </a:pPr>
            <a:r>
              <a:rPr lang="en-US" sz="3100" dirty="0">
                <a:solidFill>
                  <a:srgbClr val="000000"/>
                </a:solidFill>
                <a:latin typeface="Open Sans Bold"/>
                <a:ea typeface="Open Sans Bold"/>
                <a:cs typeface="Open Sans Bold"/>
              </a:rPr>
              <a:t>Existing system</a:t>
            </a:r>
          </a:p>
          <a:p>
            <a:pPr marL="675005" lvl="1" indent="-337185">
              <a:lnSpc>
                <a:spcPts val="4377"/>
              </a:lnSpc>
              <a:buFont typeface="Arial"/>
              <a:buChar char="•"/>
            </a:pPr>
            <a:r>
              <a:rPr lang="en-US" sz="3100" dirty="0">
                <a:solidFill>
                  <a:srgbClr val="000000"/>
                </a:solidFill>
                <a:latin typeface="Open Sans Bold"/>
                <a:ea typeface="Open Sans Bold"/>
                <a:cs typeface="Open Sans Bold"/>
              </a:rPr>
              <a:t>Hardware &amp;Software Requirements</a:t>
            </a:r>
          </a:p>
          <a:p>
            <a:pPr marL="675005" lvl="1" indent="-337185" algn="l">
              <a:lnSpc>
                <a:spcPts val="4377"/>
              </a:lnSpc>
              <a:buFont typeface="Arial"/>
              <a:buChar char="•"/>
            </a:pPr>
            <a:r>
              <a:rPr lang="en-US" sz="3100" dirty="0">
                <a:solidFill>
                  <a:srgbClr val="000000"/>
                </a:solidFill>
                <a:latin typeface="Open Sans Bold"/>
                <a:ea typeface="Open Sans Bold"/>
                <a:cs typeface="Open Sans Bold"/>
              </a:rPr>
              <a:t>Advantages</a:t>
            </a:r>
          </a:p>
          <a:p>
            <a:pPr marL="675005" lvl="1" indent="-337185" algn="l">
              <a:lnSpc>
                <a:spcPts val="4377"/>
              </a:lnSpc>
              <a:buFont typeface="Arial"/>
              <a:buChar char="•"/>
            </a:pPr>
            <a:r>
              <a:rPr lang="en-US" sz="3100" dirty="0">
                <a:solidFill>
                  <a:srgbClr val="000000"/>
                </a:solidFill>
                <a:latin typeface="Open Sans Bold"/>
                <a:ea typeface="Open Sans Bold"/>
                <a:cs typeface="Open Sans Bold"/>
              </a:rPr>
              <a:t>Applications</a:t>
            </a:r>
          </a:p>
          <a:p>
            <a:pPr marL="675005" lvl="1" indent="-337185">
              <a:lnSpc>
                <a:spcPts val="4377"/>
              </a:lnSpc>
              <a:buFont typeface="Arial"/>
              <a:buChar char="•"/>
            </a:pPr>
            <a:r>
              <a:rPr lang="en-US" sz="3100" dirty="0">
                <a:solidFill>
                  <a:srgbClr val="000000"/>
                </a:solidFill>
                <a:latin typeface="Open Sans Bold"/>
                <a:ea typeface="Open Sans Bold"/>
                <a:cs typeface="Open Sans Bold"/>
              </a:rPr>
              <a:t>Result Analysis</a:t>
            </a:r>
          </a:p>
          <a:p>
            <a:pPr marL="675005" lvl="1" indent="-337185">
              <a:lnSpc>
                <a:spcPts val="4377"/>
              </a:lnSpc>
              <a:buFont typeface="Arial"/>
              <a:buChar char="•"/>
            </a:pPr>
            <a:r>
              <a:rPr lang="en-US" sz="3100" dirty="0">
                <a:solidFill>
                  <a:srgbClr val="000000"/>
                </a:solidFill>
                <a:latin typeface="Open Sans Bold"/>
                <a:ea typeface="Open Sans Bold"/>
                <a:cs typeface="Open Sans Bold"/>
              </a:rPr>
              <a:t>Future Scope</a:t>
            </a:r>
          </a:p>
          <a:p>
            <a:pPr marL="675005" lvl="1" indent="-337185">
              <a:lnSpc>
                <a:spcPts val="4377"/>
              </a:lnSpc>
              <a:buFont typeface="Arial"/>
              <a:buChar char="•"/>
            </a:pPr>
            <a:r>
              <a:rPr lang="en-US" sz="3100" dirty="0">
                <a:solidFill>
                  <a:srgbClr val="000000"/>
                </a:solidFill>
                <a:latin typeface="Open Sans Bold"/>
                <a:ea typeface="Open Sans Bold"/>
                <a:cs typeface="Open Sans Bold"/>
              </a:rPr>
              <a:t>Conclusion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2" name="Freeform 2"/>
          <p:cNvSpPr/>
          <p:nvPr/>
        </p:nvSpPr>
        <p:spPr>
          <a:xfrm rot="504490">
            <a:off x="15179821" y="9276144"/>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04490">
            <a:off x="17055664" y="9277211"/>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4352322" flipV="1">
            <a:off x="-715443" y="-11227"/>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14352322" flipV="1">
            <a:off x="1270375" y="-662255"/>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5870364" y="252857"/>
            <a:ext cx="5900471" cy="1178789"/>
            <a:chOff x="0" y="0"/>
            <a:chExt cx="1628282" cy="381296"/>
          </a:xfrm>
        </p:grpSpPr>
        <p:sp>
          <p:nvSpPr>
            <p:cNvPr id="7" name="Freeform 7"/>
            <p:cNvSpPr/>
            <p:nvPr/>
          </p:nvSpPr>
          <p:spPr>
            <a:xfrm>
              <a:off x="0" y="0"/>
              <a:ext cx="1628282" cy="381296"/>
            </a:xfrm>
            <a:custGeom>
              <a:avLst/>
              <a:gdLst/>
              <a:ahLst/>
              <a:cxnLst/>
              <a:rect l="l" t="t" r="r" b="b"/>
              <a:pathLst>
                <a:path w="1628282" h="381296">
                  <a:moveTo>
                    <a:pt x="0" y="0"/>
                  </a:moveTo>
                  <a:lnTo>
                    <a:pt x="1628282" y="0"/>
                  </a:lnTo>
                  <a:lnTo>
                    <a:pt x="1628282" y="381296"/>
                  </a:lnTo>
                  <a:lnTo>
                    <a:pt x="0" y="381296"/>
                  </a:lnTo>
                  <a:close/>
                </a:path>
              </a:pathLst>
            </a:custGeom>
            <a:solidFill>
              <a:srgbClr val="91BBE6"/>
            </a:solidFill>
          </p:spPr>
        </p:sp>
        <p:sp>
          <p:nvSpPr>
            <p:cNvPr id="8" name="TextBox 8"/>
            <p:cNvSpPr txBox="1"/>
            <p:nvPr/>
          </p:nvSpPr>
          <p:spPr>
            <a:xfrm>
              <a:off x="0" y="-38100"/>
              <a:ext cx="1628282" cy="419396"/>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6106991" y="342571"/>
            <a:ext cx="5461853" cy="965354"/>
            <a:chOff x="0" y="0"/>
            <a:chExt cx="1492217" cy="305863"/>
          </a:xfrm>
        </p:grpSpPr>
        <p:sp>
          <p:nvSpPr>
            <p:cNvPr id="10" name="Freeform 10"/>
            <p:cNvSpPr/>
            <p:nvPr/>
          </p:nvSpPr>
          <p:spPr>
            <a:xfrm>
              <a:off x="0" y="0"/>
              <a:ext cx="1492217" cy="305863"/>
            </a:xfrm>
            <a:custGeom>
              <a:avLst/>
              <a:gdLst/>
              <a:ahLst/>
              <a:cxnLst/>
              <a:rect l="l" t="t" r="r" b="b"/>
              <a:pathLst>
                <a:path w="1492217" h="305863">
                  <a:moveTo>
                    <a:pt x="0" y="0"/>
                  </a:moveTo>
                  <a:lnTo>
                    <a:pt x="1492217" y="0"/>
                  </a:lnTo>
                  <a:lnTo>
                    <a:pt x="1492217" y="305863"/>
                  </a:lnTo>
                  <a:lnTo>
                    <a:pt x="0" y="305863"/>
                  </a:lnTo>
                  <a:close/>
                </a:path>
              </a:pathLst>
            </a:custGeom>
            <a:solidFill>
              <a:srgbClr val="FFFFFF"/>
            </a:solidFill>
          </p:spPr>
        </p:sp>
        <p:sp>
          <p:nvSpPr>
            <p:cNvPr id="11" name="TextBox 11"/>
            <p:cNvSpPr txBox="1"/>
            <p:nvPr/>
          </p:nvSpPr>
          <p:spPr>
            <a:xfrm>
              <a:off x="0" y="-38100"/>
              <a:ext cx="1492217" cy="343963"/>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5876082" y="330744"/>
            <a:ext cx="5889034" cy="1016176"/>
          </a:xfrm>
          <a:prstGeom prst="rect">
            <a:avLst/>
          </a:prstGeom>
        </p:spPr>
        <p:txBody>
          <a:bodyPr wrap="square" lIns="0" tIns="0" rIns="0" bIns="0" rtlCol="0" anchor="t">
            <a:spAutoFit/>
          </a:bodyPr>
          <a:lstStyle/>
          <a:p>
            <a:pPr algn="ctr">
              <a:lnSpc>
                <a:spcPts val="8460"/>
              </a:lnSpc>
            </a:pPr>
            <a:r>
              <a:rPr lang="en-US" sz="6000" dirty="0">
                <a:solidFill>
                  <a:srgbClr val="000000"/>
                </a:solidFill>
                <a:latin typeface="Open Sans Extra Bold"/>
                <a:ea typeface="Open Sans Extra Bold"/>
                <a:cs typeface="Open Sans Extra Bold"/>
              </a:rPr>
              <a:t>ABSTRACT</a:t>
            </a:r>
          </a:p>
        </p:txBody>
      </p:sp>
      <p:sp>
        <p:nvSpPr>
          <p:cNvPr id="13" name="TextBox 13"/>
          <p:cNvSpPr txBox="1"/>
          <p:nvPr/>
        </p:nvSpPr>
        <p:spPr>
          <a:xfrm>
            <a:off x="1001293" y="1696552"/>
            <a:ext cx="17243431" cy="9181681"/>
          </a:xfrm>
          <a:prstGeom prst="rect">
            <a:avLst/>
          </a:prstGeom>
        </p:spPr>
        <p:txBody>
          <a:bodyPr wrap="square" lIns="0" tIns="0" rIns="0" bIns="0" rtlCol="0" anchor="t">
            <a:spAutoFit/>
          </a:bodyPr>
          <a:lstStyle/>
          <a:p>
            <a:pPr algn="ctr">
              <a:lnSpc>
                <a:spcPts val="5952"/>
              </a:lnSpc>
            </a:pPr>
            <a:r>
              <a:rPr lang="en-US" sz="4250" dirty="0">
                <a:solidFill>
                  <a:srgbClr val="FFFFFF"/>
                </a:solidFill>
                <a:ea typeface="+mn-lt"/>
                <a:cs typeface="+mn-lt"/>
              </a:rPr>
              <a:t>An airline reservation system is an advanced software platform designed to streamline the process of booking flights and managing reservations. It allows passengers to search for flights, compare prices, select seats, and purchase tickets online. The system integrates real-time data on flight schedules, availability, and fares, ensuring accurate and efficient transactions. Key features include passenger information management, e-ticket issuance, and support for cancellations and itinerary changes. By automating these tasks, the airline reservation system enhances operational efficiency, reduces manual errors, and provides a convenient, user-friendly experience for travelers, ultimately improving overall customer satisfaction and travel management.</a:t>
            </a:r>
            <a:endParaRPr lang="en-US" dirty="0">
              <a:ea typeface="Calibri"/>
              <a:cs typeface="Calibri"/>
            </a:endParaRPr>
          </a:p>
          <a:p>
            <a:pPr algn="ctr">
              <a:lnSpc>
                <a:spcPts val="5952"/>
              </a:lnSpc>
            </a:pPr>
            <a:endParaRPr lang="en-US" sz="4251">
              <a:solidFill>
                <a:srgbClr val="FFFFFF"/>
              </a:solidFill>
              <a:latin typeface="Open Sans"/>
            </a:endParaRPr>
          </a:p>
        </p:txBody>
      </p:sp>
      <p:sp>
        <p:nvSpPr>
          <p:cNvPr id="16" name="Freeform 16"/>
          <p:cNvSpPr/>
          <p:nvPr/>
        </p:nvSpPr>
        <p:spPr>
          <a:xfrm rot="15893095" flipH="1" flipV="1">
            <a:off x="14913402" y="-261962"/>
            <a:ext cx="1645400" cy="2116187"/>
          </a:xfrm>
          <a:custGeom>
            <a:avLst/>
            <a:gdLst/>
            <a:ahLst/>
            <a:cxnLst/>
            <a:rect l="l" t="t" r="r" b="b"/>
            <a:pathLst>
              <a:path w="2465127" h="2150824">
                <a:moveTo>
                  <a:pt x="2465127" y="2150824"/>
                </a:moveTo>
                <a:lnTo>
                  <a:pt x="0" y="2150824"/>
                </a:lnTo>
                <a:lnTo>
                  <a:pt x="0" y="0"/>
                </a:lnTo>
                <a:lnTo>
                  <a:pt x="2465127" y="0"/>
                </a:lnTo>
                <a:lnTo>
                  <a:pt x="2465127" y="215082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rot="16529089" flipH="1">
            <a:off x="14873706" y="-365896"/>
            <a:ext cx="1656946" cy="2254733"/>
          </a:xfrm>
          <a:custGeom>
            <a:avLst/>
            <a:gdLst/>
            <a:ahLst/>
            <a:cxnLst/>
            <a:rect l="l" t="t" r="r" b="b"/>
            <a:pathLst>
              <a:path w="2465127" h="2150824">
                <a:moveTo>
                  <a:pt x="2465127" y="0"/>
                </a:moveTo>
                <a:lnTo>
                  <a:pt x="0" y="0"/>
                </a:lnTo>
                <a:lnTo>
                  <a:pt x="0" y="2150823"/>
                </a:lnTo>
                <a:lnTo>
                  <a:pt x="2465127" y="2150823"/>
                </a:lnTo>
                <a:lnTo>
                  <a:pt x="2465127"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grpSp>
        <p:nvGrpSpPr>
          <p:cNvPr id="2" name="Group 2"/>
          <p:cNvGrpSpPr/>
          <p:nvPr/>
        </p:nvGrpSpPr>
        <p:grpSpPr>
          <a:xfrm>
            <a:off x="410260" y="4006287"/>
            <a:ext cx="6182384" cy="1447735"/>
            <a:chOff x="0" y="0"/>
            <a:chExt cx="1628282" cy="381296"/>
          </a:xfrm>
        </p:grpSpPr>
        <p:sp>
          <p:nvSpPr>
            <p:cNvPr id="3" name="Freeform 3"/>
            <p:cNvSpPr/>
            <p:nvPr/>
          </p:nvSpPr>
          <p:spPr>
            <a:xfrm>
              <a:off x="0" y="0"/>
              <a:ext cx="1628282" cy="381296"/>
            </a:xfrm>
            <a:custGeom>
              <a:avLst/>
              <a:gdLst/>
              <a:ahLst/>
              <a:cxnLst/>
              <a:rect l="l" t="t" r="r" b="b"/>
              <a:pathLst>
                <a:path w="1628282" h="381296">
                  <a:moveTo>
                    <a:pt x="0" y="0"/>
                  </a:moveTo>
                  <a:lnTo>
                    <a:pt x="1628282" y="0"/>
                  </a:lnTo>
                  <a:lnTo>
                    <a:pt x="1628282" y="381296"/>
                  </a:lnTo>
                  <a:lnTo>
                    <a:pt x="0" y="381296"/>
                  </a:lnTo>
                  <a:close/>
                </a:path>
              </a:pathLst>
            </a:custGeom>
            <a:solidFill>
              <a:srgbClr val="91BBE6"/>
            </a:solidFill>
          </p:spPr>
        </p:sp>
        <p:sp>
          <p:nvSpPr>
            <p:cNvPr id="4" name="TextBox 4"/>
            <p:cNvSpPr txBox="1"/>
            <p:nvPr/>
          </p:nvSpPr>
          <p:spPr>
            <a:xfrm>
              <a:off x="0" y="-38100"/>
              <a:ext cx="1628282" cy="41939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67584" y="3933268"/>
            <a:ext cx="5665760" cy="1375260"/>
            <a:chOff x="0" y="-38100"/>
            <a:chExt cx="1492217" cy="362208"/>
          </a:xfrm>
        </p:grpSpPr>
        <p:sp>
          <p:nvSpPr>
            <p:cNvPr id="6" name="Freeform 6"/>
            <p:cNvSpPr/>
            <p:nvPr/>
          </p:nvSpPr>
          <p:spPr>
            <a:xfrm>
              <a:off x="0" y="18245"/>
              <a:ext cx="1492217" cy="305863"/>
            </a:xfrm>
            <a:custGeom>
              <a:avLst/>
              <a:gdLst/>
              <a:ahLst/>
              <a:cxnLst/>
              <a:rect l="l" t="t" r="r" b="b"/>
              <a:pathLst>
                <a:path w="1492217" h="305863">
                  <a:moveTo>
                    <a:pt x="0" y="0"/>
                  </a:moveTo>
                  <a:lnTo>
                    <a:pt x="1492217" y="0"/>
                  </a:lnTo>
                  <a:lnTo>
                    <a:pt x="1492217" y="305863"/>
                  </a:lnTo>
                  <a:lnTo>
                    <a:pt x="0" y="305863"/>
                  </a:lnTo>
                  <a:close/>
                </a:path>
              </a:pathLst>
            </a:custGeom>
            <a:solidFill>
              <a:srgbClr val="FFFFFF"/>
            </a:solidFill>
          </p:spPr>
        </p:sp>
        <p:sp>
          <p:nvSpPr>
            <p:cNvPr id="7" name="TextBox 7"/>
            <p:cNvSpPr txBox="1"/>
            <p:nvPr/>
          </p:nvSpPr>
          <p:spPr>
            <a:xfrm>
              <a:off x="0" y="-38100"/>
              <a:ext cx="1492217" cy="343963"/>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664260" y="3931257"/>
            <a:ext cx="5651294" cy="1216936"/>
          </a:xfrm>
          <a:prstGeom prst="rect">
            <a:avLst/>
          </a:prstGeom>
        </p:spPr>
        <p:txBody>
          <a:bodyPr wrap="square" lIns="0" tIns="0" rIns="0" bIns="0" rtlCol="0" anchor="t">
            <a:spAutoFit/>
          </a:bodyPr>
          <a:lstStyle/>
          <a:p>
            <a:pPr algn="ctr">
              <a:lnSpc>
                <a:spcPts val="11021"/>
              </a:lnSpc>
            </a:pPr>
            <a:r>
              <a:rPr lang="en-US" sz="5400" b="1" dirty="0">
                <a:solidFill>
                  <a:srgbClr val="000000"/>
                </a:solidFill>
                <a:latin typeface="Times New Roman"/>
                <a:ea typeface="Open Sans Extra Bold"/>
                <a:cs typeface="Open Sans Extra Bold"/>
              </a:rPr>
              <a:t>INTRODUCTION</a:t>
            </a:r>
          </a:p>
        </p:txBody>
      </p:sp>
      <p:sp>
        <p:nvSpPr>
          <p:cNvPr id="10" name="TextBox 10"/>
          <p:cNvSpPr txBox="1"/>
          <p:nvPr/>
        </p:nvSpPr>
        <p:spPr>
          <a:xfrm>
            <a:off x="7674489" y="819343"/>
            <a:ext cx="7080274" cy="8093434"/>
          </a:xfrm>
          <a:prstGeom prst="rect">
            <a:avLst/>
          </a:prstGeom>
        </p:spPr>
        <p:txBody>
          <a:bodyPr lIns="0" tIns="0" rIns="0" bIns="0" rtlCol="0" anchor="t">
            <a:spAutoFit/>
          </a:bodyPr>
          <a:lstStyle/>
          <a:p>
            <a:pPr algn="ctr">
              <a:lnSpc>
                <a:spcPts val="4229"/>
              </a:lnSpc>
            </a:pPr>
            <a:r>
              <a:rPr lang="en-US" sz="4000" dirty="0">
                <a:latin typeface="Times New Roman"/>
                <a:ea typeface="Open Sans"/>
                <a:cs typeface="Open Sans"/>
              </a:rPr>
              <a:t>An airline reservation system is a software application used by airlines to manage and facilitate the booking process for passengers.</a:t>
            </a:r>
            <a:br>
              <a:rPr lang="en-US" sz="4000" dirty="0">
                <a:latin typeface="Times New Roman"/>
                <a:ea typeface="Open Sans"/>
                <a:cs typeface="Open Sans"/>
              </a:rPr>
            </a:br>
            <a:br>
              <a:rPr lang="en-US" sz="4000" dirty="0">
                <a:latin typeface="Times New Roman"/>
                <a:ea typeface="Open Sans"/>
                <a:cs typeface="Open Sans"/>
              </a:rPr>
            </a:br>
            <a:r>
              <a:rPr lang="en-US" sz="4000" dirty="0">
                <a:latin typeface="Times New Roman"/>
                <a:ea typeface="Open Sans"/>
                <a:cs typeface="Open Sans"/>
              </a:rPr>
              <a:t>It allows customers to search for flights, select seats, make payments, and receive booking confirmations.</a:t>
            </a:r>
            <a:br>
              <a:rPr lang="en-US" sz="4000" dirty="0">
                <a:latin typeface="Times New Roman"/>
                <a:ea typeface="Open Sans"/>
                <a:cs typeface="Open Sans"/>
              </a:rPr>
            </a:br>
            <a:br>
              <a:rPr lang="en-US" sz="4000" dirty="0">
                <a:latin typeface="Times New Roman"/>
                <a:ea typeface="Open Sans"/>
                <a:cs typeface="Open Sans"/>
              </a:rPr>
            </a:br>
            <a:r>
              <a:rPr lang="en-US" sz="4000" dirty="0">
                <a:latin typeface="Times New Roman"/>
                <a:ea typeface="Open Sans"/>
                <a:cs typeface="Open Sans"/>
              </a:rPr>
              <a:t>The system also enables airlines to manage inventory, schedule flights, and track passenger data efficiently.</a:t>
            </a:r>
            <a:endParaRPr lang="en-US" sz="4000">
              <a:latin typeface="Times New Roman"/>
              <a:ea typeface="Calibri"/>
              <a:cs typeface="Calibri"/>
            </a:endParaRPr>
          </a:p>
        </p:txBody>
      </p:sp>
      <p:sp>
        <p:nvSpPr>
          <p:cNvPr id="11" name="Freeform 11"/>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rot="-7247678" flipV="1">
            <a:off x="-230534" y="854682"/>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rot="-7247678" flipV="1">
            <a:off x="-230534" y="-696891"/>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flipV="1">
            <a:off x="1665206" y="5448278"/>
            <a:ext cx="3656164" cy="3190003"/>
          </a:xfrm>
          <a:custGeom>
            <a:avLst/>
            <a:gdLst/>
            <a:ahLst/>
            <a:cxnLst/>
            <a:rect l="l" t="t" r="r" b="b"/>
            <a:pathLst>
              <a:path w="3656164" h="3190003">
                <a:moveTo>
                  <a:pt x="0" y="3190003"/>
                </a:moveTo>
                <a:lnTo>
                  <a:pt x="3656164" y="3190003"/>
                </a:lnTo>
                <a:lnTo>
                  <a:pt x="3656164" y="0"/>
                </a:lnTo>
                <a:lnTo>
                  <a:pt x="0" y="0"/>
                </a:lnTo>
                <a:lnTo>
                  <a:pt x="0" y="319000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a:off x="1849933" y="820882"/>
            <a:ext cx="3656164" cy="3190003"/>
          </a:xfrm>
          <a:custGeom>
            <a:avLst/>
            <a:gdLst/>
            <a:ahLst/>
            <a:cxnLst/>
            <a:rect l="l" t="t" r="r" b="b"/>
            <a:pathLst>
              <a:path w="3656164" h="3190003">
                <a:moveTo>
                  <a:pt x="0" y="0"/>
                </a:moveTo>
                <a:lnTo>
                  <a:pt x="3656164" y="0"/>
                </a:lnTo>
                <a:lnTo>
                  <a:pt x="3656164" y="3190003"/>
                </a:lnTo>
                <a:lnTo>
                  <a:pt x="0" y="31900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grpSp>
        <p:nvGrpSpPr>
          <p:cNvPr id="2" name="Group 2"/>
          <p:cNvGrpSpPr/>
          <p:nvPr/>
        </p:nvGrpSpPr>
        <p:grpSpPr>
          <a:xfrm>
            <a:off x="5838775" y="305994"/>
            <a:ext cx="6820901" cy="1458497"/>
            <a:chOff x="0" y="0"/>
            <a:chExt cx="1042338" cy="353723"/>
          </a:xfrm>
        </p:grpSpPr>
        <p:sp>
          <p:nvSpPr>
            <p:cNvPr id="3" name="Freeform 3"/>
            <p:cNvSpPr/>
            <p:nvPr/>
          </p:nvSpPr>
          <p:spPr>
            <a:xfrm>
              <a:off x="0" y="0"/>
              <a:ext cx="1042338" cy="353723"/>
            </a:xfrm>
            <a:custGeom>
              <a:avLst/>
              <a:gdLst/>
              <a:ahLst/>
              <a:cxnLst/>
              <a:rect l="l" t="t" r="r" b="b"/>
              <a:pathLst>
                <a:path w="1042338" h="353723">
                  <a:moveTo>
                    <a:pt x="0" y="0"/>
                  </a:moveTo>
                  <a:lnTo>
                    <a:pt x="1042338" y="0"/>
                  </a:lnTo>
                  <a:lnTo>
                    <a:pt x="1042338" y="353723"/>
                  </a:lnTo>
                  <a:lnTo>
                    <a:pt x="0" y="353723"/>
                  </a:lnTo>
                  <a:close/>
                </a:path>
              </a:pathLst>
            </a:custGeom>
            <a:solidFill>
              <a:srgbClr val="91BBE6"/>
            </a:solidFill>
          </p:spPr>
        </p:sp>
        <p:sp>
          <p:nvSpPr>
            <p:cNvPr id="4" name="TextBox 4"/>
            <p:cNvSpPr txBox="1"/>
            <p:nvPr/>
          </p:nvSpPr>
          <p:spPr>
            <a:xfrm>
              <a:off x="0" y="-38100"/>
              <a:ext cx="1042338" cy="39182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248720" y="174292"/>
            <a:ext cx="6035646" cy="1383886"/>
            <a:chOff x="0" y="-38100"/>
            <a:chExt cx="899379" cy="343963"/>
          </a:xfrm>
        </p:grpSpPr>
        <p:sp>
          <p:nvSpPr>
            <p:cNvPr id="6" name="Freeform 6"/>
            <p:cNvSpPr/>
            <p:nvPr/>
          </p:nvSpPr>
          <p:spPr>
            <a:xfrm>
              <a:off x="0" y="45913"/>
              <a:ext cx="899379" cy="239863"/>
            </a:xfrm>
            <a:custGeom>
              <a:avLst/>
              <a:gdLst/>
              <a:ahLst/>
              <a:cxnLst/>
              <a:rect l="l" t="t" r="r" b="b"/>
              <a:pathLst>
                <a:path w="899379" h="305863">
                  <a:moveTo>
                    <a:pt x="0" y="0"/>
                  </a:moveTo>
                  <a:lnTo>
                    <a:pt x="899379" y="0"/>
                  </a:lnTo>
                  <a:lnTo>
                    <a:pt x="899379" y="305863"/>
                  </a:lnTo>
                  <a:lnTo>
                    <a:pt x="0" y="305863"/>
                  </a:lnTo>
                  <a:close/>
                </a:path>
              </a:pathLst>
            </a:custGeom>
            <a:solidFill>
              <a:srgbClr val="FFFFFF"/>
            </a:solidFill>
          </p:spPr>
        </p:sp>
        <p:sp>
          <p:nvSpPr>
            <p:cNvPr id="7" name="TextBox 7"/>
            <p:cNvSpPr txBox="1"/>
            <p:nvPr/>
          </p:nvSpPr>
          <p:spPr>
            <a:xfrm>
              <a:off x="0" y="-38100"/>
              <a:ext cx="899379" cy="343963"/>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0061778" y="1766152"/>
            <a:ext cx="3957629" cy="1487703"/>
          </a:xfrm>
          <a:prstGeom prst="rect">
            <a:avLst/>
          </a:prstGeom>
        </p:spPr>
        <p:txBody>
          <a:bodyPr lIns="50800" tIns="50800" rIns="50800" bIns="50800" rtlCol="0" anchor="ctr"/>
          <a:lstStyle/>
          <a:p>
            <a:pPr algn="ctr">
              <a:lnSpc>
                <a:spcPts val="2659"/>
              </a:lnSpc>
              <a:spcBef>
                <a:spcPct val="0"/>
              </a:spcBef>
            </a:pPr>
            <a:endParaRPr/>
          </a:p>
        </p:txBody>
      </p:sp>
      <p:sp>
        <p:nvSpPr>
          <p:cNvPr id="14" name="TextBox 14"/>
          <p:cNvSpPr txBox="1"/>
          <p:nvPr/>
        </p:nvSpPr>
        <p:spPr>
          <a:xfrm>
            <a:off x="4695369" y="173161"/>
            <a:ext cx="9327077" cy="1188082"/>
          </a:xfrm>
          <a:prstGeom prst="rect">
            <a:avLst/>
          </a:prstGeom>
        </p:spPr>
        <p:txBody>
          <a:bodyPr wrap="square" lIns="0" tIns="0" rIns="0" bIns="0" rtlCol="0" anchor="t">
            <a:spAutoFit/>
          </a:bodyPr>
          <a:lstStyle/>
          <a:p>
            <a:pPr algn="ctr">
              <a:lnSpc>
                <a:spcPts val="10668"/>
              </a:lnSpc>
            </a:pPr>
            <a:r>
              <a:rPr lang="en-US" sz="4800" dirty="0">
                <a:solidFill>
                  <a:srgbClr val="000000"/>
                </a:solidFill>
                <a:latin typeface="Times New Roman"/>
                <a:ea typeface="Open Sans Extra Bold"/>
                <a:cs typeface="Open Sans Extra Bold"/>
              </a:rPr>
              <a:t>BOOKING PROCESS</a:t>
            </a:r>
          </a:p>
        </p:txBody>
      </p:sp>
      <p:sp>
        <p:nvSpPr>
          <p:cNvPr id="16" name="TextBox 16"/>
          <p:cNvSpPr txBox="1"/>
          <p:nvPr/>
        </p:nvSpPr>
        <p:spPr>
          <a:xfrm>
            <a:off x="2103269" y="2168949"/>
            <a:ext cx="12537005" cy="5660460"/>
          </a:xfrm>
          <a:prstGeom prst="rect">
            <a:avLst/>
          </a:prstGeom>
        </p:spPr>
        <p:txBody>
          <a:bodyPr wrap="square" lIns="0" tIns="0" rIns="0" bIns="0" rtlCol="0" anchor="t">
            <a:spAutoFit/>
          </a:bodyPr>
          <a:lstStyle/>
          <a:p>
            <a:pPr algn="ctr">
              <a:lnSpc>
                <a:spcPts val="4377"/>
              </a:lnSpc>
            </a:pPr>
            <a:r>
              <a:rPr lang="en-US" sz="4800" dirty="0">
                <a:solidFill>
                  <a:srgbClr val="000000"/>
                </a:solidFill>
                <a:latin typeface="Optima"/>
                <a:ea typeface="Open Sans"/>
                <a:cs typeface="Open Sans"/>
              </a:rPr>
              <a:t>Customers can search for flights based on criteria such as date, time, destination, and class.</a:t>
            </a:r>
            <a:br>
              <a:rPr lang="en-US" sz="4800" dirty="0">
                <a:latin typeface="Optima"/>
                <a:ea typeface="Open Sans"/>
                <a:cs typeface="Open Sans"/>
              </a:rPr>
            </a:br>
            <a:br>
              <a:rPr lang="en-US" sz="4800" dirty="0">
                <a:latin typeface="Optima"/>
                <a:ea typeface="Open Sans"/>
                <a:cs typeface="Open Sans"/>
              </a:rPr>
            </a:br>
            <a:r>
              <a:rPr lang="en-US" sz="4800" dirty="0">
                <a:solidFill>
                  <a:srgbClr val="000000"/>
                </a:solidFill>
                <a:latin typeface="Optima"/>
                <a:ea typeface="Open Sans"/>
                <a:cs typeface="Open Sans"/>
              </a:rPr>
              <a:t>Once a flight is selected, customers can choose seats, enter passenger details, and make payment.</a:t>
            </a:r>
            <a:br>
              <a:rPr lang="en-US" sz="4800" dirty="0">
                <a:latin typeface="Optima"/>
                <a:ea typeface="Open Sans"/>
                <a:cs typeface="Open Sans"/>
              </a:rPr>
            </a:br>
            <a:br>
              <a:rPr lang="en-US" sz="4800" dirty="0">
                <a:latin typeface="Optima"/>
                <a:ea typeface="Open Sans"/>
                <a:cs typeface="Open Sans"/>
              </a:rPr>
            </a:br>
            <a:r>
              <a:rPr lang="en-US" sz="4800" dirty="0">
                <a:solidFill>
                  <a:srgbClr val="000000"/>
                </a:solidFill>
                <a:latin typeface="Optima"/>
                <a:ea typeface="Open Sans"/>
                <a:cs typeface="Open Sans"/>
              </a:rPr>
              <a:t>The system will generate a booking confirmation with a unique reference number for the customer to use.</a:t>
            </a:r>
            <a:endParaRPr lang="en-US" sz="4800" dirty="0">
              <a:ea typeface="Calibri"/>
              <a:cs typeface="Calibri"/>
            </a:endParaRPr>
          </a:p>
          <a:p>
            <a:pPr algn="ctr">
              <a:lnSpc>
                <a:spcPts val="4377"/>
              </a:lnSpc>
            </a:pPr>
            <a:endParaRPr lang="en-US" sz="4800" dirty="0">
              <a:solidFill>
                <a:srgbClr val="FFFFFF"/>
              </a:solidFill>
              <a:latin typeface="Open Sans"/>
              <a:ea typeface="Open Sans"/>
              <a:cs typeface="Open Sans"/>
            </a:endParaRPr>
          </a:p>
        </p:txBody>
      </p:sp>
      <p:sp>
        <p:nvSpPr>
          <p:cNvPr id="18" name="Freeform 18"/>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Freeform 20"/>
          <p:cNvSpPr/>
          <p:nvPr/>
        </p:nvSpPr>
        <p:spPr>
          <a:xfrm rot="-7247678" flipV="1">
            <a:off x="-230534" y="854682"/>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rot="-7247678" flipV="1">
            <a:off x="-230534" y="-696891"/>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rot="15316670" flipV="1">
            <a:off x="31414" y="7892886"/>
            <a:ext cx="2465127" cy="2150824"/>
          </a:xfrm>
          <a:custGeom>
            <a:avLst/>
            <a:gdLst/>
            <a:ahLst/>
            <a:cxnLst/>
            <a:rect l="l" t="t" r="r" b="b"/>
            <a:pathLst>
              <a:path w="2465127" h="2150824">
                <a:moveTo>
                  <a:pt x="0" y="2150824"/>
                </a:moveTo>
                <a:lnTo>
                  <a:pt x="2465128" y="2150824"/>
                </a:lnTo>
                <a:lnTo>
                  <a:pt x="2465128"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3" name="Freeform 23"/>
          <p:cNvSpPr/>
          <p:nvPr/>
        </p:nvSpPr>
        <p:spPr>
          <a:xfrm rot="16921343">
            <a:off x="-235732" y="7894114"/>
            <a:ext cx="2465127" cy="2150824"/>
          </a:xfrm>
          <a:custGeom>
            <a:avLst/>
            <a:gdLst/>
            <a:ahLst/>
            <a:cxnLst/>
            <a:rect l="l" t="t" r="r" b="b"/>
            <a:pathLst>
              <a:path w="2465127" h="2150824">
                <a:moveTo>
                  <a:pt x="0" y="0"/>
                </a:moveTo>
                <a:lnTo>
                  <a:pt x="2465128" y="0"/>
                </a:lnTo>
                <a:lnTo>
                  <a:pt x="2465128"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4" name="Freeform 24"/>
          <p:cNvSpPr/>
          <p:nvPr/>
        </p:nvSpPr>
        <p:spPr>
          <a:xfrm rot="15893095" flipH="1" flipV="1">
            <a:off x="15370481" y="-393076"/>
            <a:ext cx="2465127" cy="2150824"/>
          </a:xfrm>
          <a:custGeom>
            <a:avLst/>
            <a:gdLst/>
            <a:ahLst/>
            <a:cxnLst/>
            <a:rect l="l" t="t" r="r" b="b"/>
            <a:pathLst>
              <a:path w="2465127" h="2150824">
                <a:moveTo>
                  <a:pt x="2465127" y="2150824"/>
                </a:moveTo>
                <a:lnTo>
                  <a:pt x="0" y="2150824"/>
                </a:lnTo>
                <a:lnTo>
                  <a:pt x="0" y="0"/>
                </a:lnTo>
                <a:lnTo>
                  <a:pt x="2465127" y="0"/>
                </a:lnTo>
                <a:lnTo>
                  <a:pt x="2465127" y="215082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p:cNvSpPr/>
          <p:nvPr/>
        </p:nvSpPr>
        <p:spPr>
          <a:xfrm rot="16529089" flipH="1">
            <a:off x="15368879" y="-541938"/>
            <a:ext cx="2465127" cy="2150824"/>
          </a:xfrm>
          <a:custGeom>
            <a:avLst/>
            <a:gdLst/>
            <a:ahLst/>
            <a:cxnLst/>
            <a:rect l="l" t="t" r="r" b="b"/>
            <a:pathLst>
              <a:path w="2465127" h="2150824">
                <a:moveTo>
                  <a:pt x="2465127" y="0"/>
                </a:moveTo>
                <a:lnTo>
                  <a:pt x="0" y="0"/>
                </a:lnTo>
                <a:lnTo>
                  <a:pt x="0" y="2150823"/>
                </a:lnTo>
                <a:lnTo>
                  <a:pt x="2465127" y="2150823"/>
                </a:lnTo>
                <a:lnTo>
                  <a:pt x="2465127"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8" name="Picture 7">
            <a:extLst>
              <a:ext uri="{FF2B5EF4-FFF2-40B4-BE49-F238E27FC236}">
                <a16:creationId xmlns:a16="http://schemas.microsoft.com/office/drawing/2014/main" id="{D4BB31AB-17D2-4758-EF4C-189D0AE25968}"/>
              </a:ext>
            </a:extLst>
          </p:cNvPr>
          <p:cNvPicPr>
            <a:picLocks noChangeAspect="1"/>
          </p:cNvPicPr>
          <p:nvPr/>
        </p:nvPicPr>
        <p:blipFill>
          <a:blip r:embed="rId6"/>
          <a:stretch>
            <a:fillRect/>
          </a:stretch>
        </p:blipFill>
        <p:spPr>
          <a:xfrm>
            <a:off x="14976763" y="4418157"/>
            <a:ext cx="3020291" cy="31247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7" name="TextBox 7"/>
          <p:cNvSpPr txBox="1"/>
          <p:nvPr/>
        </p:nvSpPr>
        <p:spPr>
          <a:xfrm>
            <a:off x="4557338" y="1229092"/>
            <a:ext cx="9614590" cy="1778761"/>
          </a:xfrm>
          <a:prstGeom prst="rect">
            <a:avLst/>
          </a:prstGeom>
        </p:spPr>
        <p:txBody>
          <a:bodyPr lIns="50800" tIns="50800" rIns="50800" bIns="50800" rtlCol="0" anchor="ctr"/>
          <a:lstStyle/>
          <a:p>
            <a:pPr algn="ctr">
              <a:lnSpc>
                <a:spcPts val="2659"/>
              </a:lnSpc>
              <a:spcBef>
                <a:spcPct val="0"/>
              </a:spcBef>
            </a:pPr>
            <a:endParaRPr/>
          </a:p>
        </p:txBody>
      </p:sp>
      <p:sp>
        <p:nvSpPr>
          <p:cNvPr id="27" name="Freeform 27"/>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28"/>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9" name="Freeform 29"/>
          <p:cNvSpPr/>
          <p:nvPr/>
        </p:nvSpPr>
        <p:spPr>
          <a:xfrm rot="-7247678" flipV="1">
            <a:off x="-230534" y="854682"/>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0" name="Freeform 30"/>
          <p:cNvSpPr/>
          <p:nvPr/>
        </p:nvSpPr>
        <p:spPr>
          <a:xfrm rot="-7247678" flipV="1">
            <a:off x="-230534" y="-696891"/>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1" name="TextBox 31"/>
          <p:cNvSpPr txBox="1"/>
          <p:nvPr/>
        </p:nvSpPr>
        <p:spPr>
          <a:xfrm>
            <a:off x="3165493" y="-3584"/>
            <a:ext cx="9804394" cy="1256626"/>
          </a:xfrm>
          <a:prstGeom prst="rect">
            <a:avLst/>
          </a:prstGeom>
        </p:spPr>
        <p:txBody>
          <a:bodyPr lIns="0" tIns="0" rIns="0" bIns="0" rtlCol="0" anchor="t">
            <a:spAutoFit/>
          </a:bodyPr>
          <a:lstStyle/>
          <a:p>
            <a:pPr algn="ctr">
              <a:lnSpc>
                <a:spcPts val="11021"/>
              </a:lnSpc>
            </a:pPr>
            <a:r>
              <a:rPr lang="en-US" sz="6000" u="sng" dirty="0">
                <a:solidFill>
                  <a:schemeClr val="bg1"/>
                </a:solidFill>
                <a:latin typeface="Times New Roman"/>
                <a:ea typeface="Open Sans Extra Bold"/>
                <a:cs typeface="Open Sans Extra Bold"/>
              </a:rPr>
              <a:t>Existing System</a:t>
            </a:r>
          </a:p>
        </p:txBody>
      </p:sp>
      <p:sp>
        <p:nvSpPr>
          <p:cNvPr id="32" name="Freeform 32"/>
          <p:cNvSpPr/>
          <p:nvPr/>
        </p:nvSpPr>
        <p:spPr>
          <a:xfrm rot="-6283330" flipV="1">
            <a:off x="781869" y="7927522"/>
            <a:ext cx="2465127" cy="2150824"/>
          </a:xfrm>
          <a:custGeom>
            <a:avLst/>
            <a:gdLst/>
            <a:ahLst/>
            <a:cxnLst/>
            <a:rect l="l" t="t" r="r" b="b"/>
            <a:pathLst>
              <a:path w="2465127" h="2150824">
                <a:moveTo>
                  <a:pt x="0" y="2150824"/>
                </a:moveTo>
                <a:lnTo>
                  <a:pt x="2465128" y="2150824"/>
                </a:lnTo>
                <a:lnTo>
                  <a:pt x="2465128"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3" name="Freeform 33"/>
          <p:cNvSpPr/>
          <p:nvPr/>
        </p:nvSpPr>
        <p:spPr>
          <a:xfrm rot="-4678657">
            <a:off x="75995" y="7963387"/>
            <a:ext cx="2465127" cy="2150824"/>
          </a:xfrm>
          <a:custGeom>
            <a:avLst/>
            <a:gdLst/>
            <a:ahLst/>
            <a:cxnLst/>
            <a:rect l="l" t="t" r="r" b="b"/>
            <a:pathLst>
              <a:path w="2465127" h="2150824">
                <a:moveTo>
                  <a:pt x="0" y="0"/>
                </a:moveTo>
                <a:lnTo>
                  <a:pt x="2465128" y="0"/>
                </a:lnTo>
                <a:lnTo>
                  <a:pt x="2465128"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4" name="Freeform 34"/>
          <p:cNvSpPr/>
          <p:nvPr/>
        </p:nvSpPr>
        <p:spPr>
          <a:xfrm rot="15893095" flipH="1" flipV="1">
            <a:off x="14539389" y="-201150"/>
            <a:ext cx="1576127" cy="1492734"/>
          </a:xfrm>
          <a:custGeom>
            <a:avLst/>
            <a:gdLst/>
            <a:ahLst/>
            <a:cxnLst/>
            <a:rect l="l" t="t" r="r" b="b"/>
            <a:pathLst>
              <a:path w="2465127" h="2150824">
                <a:moveTo>
                  <a:pt x="2465127" y="2150823"/>
                </a:moveTo>
                <a:lnTo>
                  <a:pt x="0" y="2150823"/>
                </a:lnTo>
                <a:lnTo>
                  <a:pt x="0" y="0"/>
                </a:lnTo>
                <a:lnTo>
                  <a:pt x="2465127" y="0"/>
                </a:lnTo>
                <a:lnTo>
                  <a:pt x="2465127" y="2150823"/>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5" name="Freeform 35"/>
          <p:cNvSpPr/>
          <p:nvPr/>
        </p:nvSpPr>
        <p:spPr>
          <a:xfrm rot="16529089" flipH="1">
            <a:off x="14449783" y="-308280"/>
            <a:ext cx="1610764" cy="1527369"/>
          </a:xfrm>
          <a:custGeom>
            <a:avLst/>
            <a:gdLst/>
            <a:ahLst/>
            <a:cxnLst/>
            <a:rect l="l" t="t" r="r" b="b"/>
            <a:pathLst>
              <a:path w="2465127" h="2150824">
                <a:moveTo>
                  <a:pt x="2465127" y="0"/>
                </a:moveTo>
                <a:lnTo>
                  <a:pt x="0" y="0"/>
                </a:lnTo>
                <a:lnTo>
                  <a:pt x="0" y="2150824"/>
                </a:lnTo>
                <a:lnTo>
                  <a:pt x="2465127" y="2150824"/>
                </a:lnTo>
                <a:lnTo>
                  <a:pt x="2465127"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6" name="TextBox 35">
            <a:extLst>
              <a:ext uri="{FF2B5EF4-FFF2-40B4-BE49-F238E27FC236}">
                <a16:creationId xmlns:a16="http://schemas.microsoft.com/office/drawing/2014/main" id="{FFEDBF75-C9A4-9706-A6D7-70C075DA0E29}"/>
              </a:ext>
            </a:extLst>
          </p:cNvPr>
          <p:cNvSpPr txBox="1"/>
          <p:nvPr/>
        </p:nvSpPr>
        <p:spPr>
          <a:xfrm>
            <a:off x="2865583" y="1370446"/>
            <a:ext cx="14138563" cy="82407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4400" b="1" dirty="0">
                <a:latin typeface="Times New Roman"/>
                <a:cs typeface="Times New Roman"/>
              </a:rPr>
              <a:t>Manual Systems:</a:t>
            </a:r>
            <a:r>
              <a:rPr lang="en-US" sz="4400" dirty="0">
                <a:latin typeface="Times New Roman"/>
                <a:cs typeface="Times New Roman"/>
              </a:rPr>
              <a:t> In the bygone era, airlines relied on paper records and phone calls. Passengers would contact the airline directly or visit a travel agent to inquire about flight options and availability. Reservations were then manually recorded in ledgers or on index cards, a process prone to errors and limited in scalability.</a:t>
            </a:r>
          </a:p>
          <a:p>
            <a:pPr>
              <a:buFont typeface=""/>
              <a:buChar char="•"/>
            </a:pPr>
            <a:r>
              <a:rPr lang="en-US" sz="4400" b="1" dirty="0">
                <a:latin typeface="Times New Roman"/>
                <a:cs typeface="Times New Roman"/>
              </a:rPr>
              <a:t>Legacy Computer Systems:</a:t>
            </a:r>
            <a:r>
              <a:rPr lang="en-US" sz="4400" dirty="0">
                <a:latin typeface="Times New Roman"/>
                <a:cs typeface="Times New Roman"/>
              </a:rPr>
              <a:t> The introduction of computers brought some improvement. Airlines adopted reservation software to manage flight schedules, fares, and passenger information. However, these early systems were often cumbersome and lacked the user-friendliness of modern solutions.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35384E-C873-4D38-E163-E1E1A29F4C9E}"/>
              </a:ext>
            </a:extLst>
          </p:cNvPr>
          <p:cNvSpPr txBox="1"/>
          <p:nvPr/>
        </p:nvSpPr>
        <p:spPr>
          <a:xfrm>
            <a:off x="267856" y="550717"/>
            <a:ext cx="17740743" cy="88331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bg1"/>
                </a:solidFill>
                <a:latin typeface="Times New Roman"/>
                <a:ea typeface="Calibri"/>
                <a:cs typeface="Times New Roman"/>
              </a:rPr>
              <a:t> </a:t>
            </a:r>
            <a:r>
              <a:rPr lang="en-US" sz="4800" b="1" dirty="0">
                <a:solidFill>
                  <a:schemeClr val="bg1"/>
                </a:solidFill>
                <a:latin typeface="Times New Roman"/>
                <a:ea typeface="Calibri"/>
                <a:cs typeface="Times New Roman"/>
              </a:rPr>
              <a:t>Hardware Requirements:</a:t>
            </a:r>
          </a:p>
          <a:p>
            <a:pPr marL="228600" indent="-228600">
              <a:buFont typeface=""/>
              <a:buChar char="•"/>
            </a:pPr>
            <a:r>
              <a:rPr lang="en-US" sz="4000" b="1" dirty="0">
                <a:latin typeface="Times New Roman"/>
                <a:cs typeface="Times New Roman"/>
              </a:rPr>
              <a:t>Server:</a:t>
            </a:r>
            <a:r>
              <a:rPr lang="en-US" sz="4000" dirty="0">
                <a:latin typeface="Times New Roman"/>
                <a:cs typeface="Times New Roman"/>
              </a:rPr>
              <a:t> The backbone of the system.</a:t>
            </a:r>
            <a:endParaRPr lang="en-US" sz="4000">
              <a:latin typeface="Times New Roman"/>
              <a:ea typeface="Calibri"/>
              <a:cs typeface="Times New Roman"/>
            </a:endParaRPr>
          </a:p>
          <a:p>
            <a:pPr marL="228600" lvl="1" indent="-228600">
              <a:buFont typeface=""/>
              <a:buChar char="•"/>
            </a:pPr>
            <a:r>
              <a:rPr lang="en-US" sz="4000" dirty="0">
                <a:latin typeface="Times New Roman"/>
                <a:cs typeface="Times New Roman"/>
              </a:rPr>
              <a:t>Requirements: Reliable and powerful processor (e.g., Intel Xeon), sufficient RAM (minimum 16GB, recommended 32GB or more), ample storage capacity (based on data volume, consider RAID configuration for redundancy).</a:t>
            </a:r>
            <a:endParaRPr lang="en-US" sz="4000">
              <a:latin typeface="Times New Roman"/>
              <a:ea typeface="Calibri"/>
              <a:cs typeface="Times New Roman"/>
            </a:endParaRPr>
          </a:p>
          <a:p>
            <a:pPr marL="228600" lvl="1" indent="-228600">
              <a:buFont typeface=""/>
              <a:buChar char="•"/>
            </a:pPr>
            <a:r>
              <a:rPr lang="en-US" sz="4000" dirty="0">
                <a:latin typeface="Times New Roman"/>
                <a:cs typeface="Times New Roman"/>
              </a:rPr>
              <a:t>Justification: Handles user requests, manages data, and ensures smooth operation.</a:t>
            </a:r>
            <a:endParaRPr lang="en-US" sz="4000">
              <a:latin typeface="Times New Roman"/>
              <a:ea typeface="Calibri"/>
              <a:cs typeface="Times New Roman"/>
            </a:endParaRPr>
          </a:p>
          <a:p>
            <a:pPr marL="228600" indent="-228600">
              <a:buFont typeface=""/>
              <a:buChar char="•"/>
            </a:pPr>
            <a:r>
              <a:rPr lang="en-US" sz="4000" b="1" dirty="0">
                <a:latin typeface="Times New Roman"/>
                <a:cs typeface="Times New Roman"/>
              </a:rPr>
              <a:t>Network:</a:t>
            </a:r>
            <a:r>
              <a:rPr lang="en-US" sz="4000" dirty="0">
                <a:latin typeface="Times New Roman"/>
                <a:cs typeface="Times New Roman"/>
              </a:rPr>
              <a:t> Connects users and various system components.</a:t>
            </a:r>
            <a:endParaRPr lang="en-US" sz="4000">
              <a:latin typeface="Times New Roman"/>
              <a:ea typeface="Calibri"/>
              <a:cs typeface="Times New Roman"/>
            </a:endParaRPr>
          </a:p>
          <a:p>
            <a:pPr marL="228600" lvl="1" indent="-228600">
              <a:buFont typeface=""/>
              <a:buChar char="•"/>
            </a:pPr>
            <a:r>
              <a:rPr lang="en-US" sz="4000" dirty="0">
                <a:latin typeface="Times New Roman"/>
                <a:cs typeface="Times New Roman"/>
              </a:rPr>
              <a:t>Requirements: Secure and reliable network infrastructure with high bandwidth.</a:t>
            </a:r>
            <a:endParaRPr lang="en-US" sz="4000">
              <a:latin typeface="Times New Roman"/>
              <a:ea typeface="Calibri"/>
              <a:cs typeface="Times New Roman"/>
            </a:endParaRPr>
          </a:p>
          <a:p>
            <a:pPr marL="228600" lvl="1" indent="-228600">
              <a:buFont typeface=""/>
              <a:buChar char="•"/>
            </a:pPr>
            <a:r>
              <a:rPr lang="en-US" sz="4000" dirty="0">
                <a:latin typeface="Times New Roman"/>
                <a:cs typeface="Times New Roman"/>
              </a:rPr>
              <a:t>Justification: Enables data transfer between users, servers, and potentially other airline systems.</a:t>
            </a:r>
            <a:endParaRPr lang="en-US" sz="4000">
              <a:latin typeface="Times New Roman"/>
              <a:ea typeface="Calibri"/>
              <a:cs typeface="Times New Roman"/>
            </a:endParaRPr>
          </a:p>
          <a:p>
            <a:pPr marL="228600" indent="-228600">
              <a:buFont typeface=""/>
              <a:buChar char="•"/>
            </a:pPr>
            <a:r>
              <a:rPr lang="en-US" sz="4000" b="1" dirty="0">
                <a:latin typeface="Times New Roman"/>
                <a:cs typeface="Times New Roman"/>
              </a:rPr>
              <a:t>Client Devices:</a:t>
            </a:r>
            <a:r>
              <a:rPr lang="en-US" sz="4000" dirty="0">
                <a:latin typeface="Times New Roman"/>
                <a:cs typeface="Times New Roman"/>
              </a:rPr>
              <a:t> Users will access the system through various devices.</a:t>
            </a:r>
            <a:endParaRPr lang="en-US" sz="4000">
              <a:latin typeface="Times New Roman"/>
              <a:ea typeface="Calibri"/>
              <a:cs typeface="Times New Roman"/>
            </a:endParaRPr>
          </a:p>
          <a:p>
            <a:pPr marL="228600" lvl="1" indent="-228600">
              <a:buFont typeface=""/>
              <a:buChar char="•"/>
            </a:pPr>
            <a:r>
              <a:rPr lang="en-US" sz="4000" dirty="0">
                <a:latin typeface="Times New Roman"/>
                <a:cs typeface="Times New Roman"/>
              </a:rPr>
              <a:t>Requirements: Standard desktop computers, laptops, or mobile devices with internet access and compatible web browsers.</a:t>
            </a:r>
            <a:endParaRPr lang="en-US" sz="4000">
              <a:latin typeface="Times New Roman"/>
              <a:ea typeface="Calibri"/>
              <a:cs typeface="Times New Roman"/>
            </a:endParaRPr>
          </a:p>
          <a:p>
            <a:pPr marL="228600" lvl="1" indent="-228600">
              <a:buFont typeface=""/>
              <a:buChar char="•"/>
            </a:pPr>
            <a:r>
              <a:rPr lang="en-US" sz="4000" dirty="0">
                <a:latin typeface="Times New Roman"/>
                <a:cs typeface="Times New Roman"/>
              </a:rPr>
              <a:t>Justification: Flexibility for users to access the system from their preferred devices.</a:t>
            </a:r>
            <a:endParaRPr lang="en-US" sz="4000">
              <a:latin typeface="Times New Roman"/>
              <a:ea typeface="Calibri"/>
              <a:cs typeface="Times New Roman"/>
            </a:endParaRPr>
          </a:p>
        </p:txBody>
      </p:sp>
      <p:sp>
        <p:nvSpPr>
          <p:cNvPr id="4" name="Freeform 14">
            <a:extLst>
              <a:ext uri="{FF2B5EF4-FFF2-40B4-BE49-F238E27FC236}">
                <a16:creationId xmlns:a16="http://schemas.microsoft.com/office/drawing/2014/main" id="{F4B09037-A42A-13FA-F928-BC441E6ADB69}"/>
              </a:ext>
            </a:extLst>
          </p:cNvPr>
          <p:cNvSpPr/>
          <p:nvPr/>
        </p:nvSpPr>
        <p:spPr>
          <a:xfrm rot="-15180000" flipV="1">
            <a:off x="15696086" y="-414226"/>
            <a:ext cx="2166802" cy="2497277"/>
          </a:xfrm>
          <a:custGeom>
            <a:avLst/>
            <a:gdLst/>
            <a:ahLst/>
            <a:cxnLst/>
            <a:rect l="l" t="t" r="r" b="b"/>
            <a:pathLst>
              <a:path w="3656164" h="3190003">
                <a:moveTo>
                  <a:pt x="0" y="3190003"/>
                </a:moveTo>
                <a:lnTo>
                  <a:pt x="3656164" y="3190003"/>
                </a:lnTo>
                <a:lnTo>
                  <a:pt x="3656164" y="0"/>
                </a:lnTo>
                <a:lnTo>
                  <a:pt x="0" y="0"/>
                </a:lnTo>
                <a:lnTo>
                  <a:pt x="0" y="319000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14">
            <a:extLst>
              <a:ext uri="{FF2B5EF4-FFF2-40B4-BE49-F238E27FC236}">
                <a16:creationId xmlns:a16="http://schemas.microsoft.com/office/drawing/2014/main" id="{141761C6-DF6F-6C1A-C4F1-04A50E29BA84}"/>
              </a:ext>
            </a:extLst>
          </p:cNvPr>
          <p:cNvSpPr/>
          <p:nvPr/>
        </p:nvSpPr>
        <p:spPr>
          <a:xfrm rot="19920000" flipV="1">
            <a:off x="421223" y="8214255"/>
            <a:ext cx="2109073" cy="2335640"/>
          </a:xfrm>
          <a:custGeom>
            <a:avLst/>
            <a:gdLst/>
            <a:ahLst/>
            <a:cxnLst/>
            <a:rect l="l" t="t" r="r" b="b"/>
            <a:pathLst>
              <a:path w="3656164" h="3190003">
                <a:moveTo>
                  <a:pt x="0" y="3190003"/>
                </a:moveTo>
                <a:lnTo>
                  <a:pt x="3656164" y="3190003"/>
                </a:lnTo>
                <a:lnTo>
                  <a:pt x="3656164" y="0"/>
                </a:lnTo>
                <a:lnTo>
                  <a:pt x="0" y="0"/>
                </a:lnTo>
                <a:lnTo>
                  <a:pt x="0" y="3190003"/>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C1D7F-BDD7-CE7A-5F3E-AF83AADA7736}"/>
              </a:ext>
            </a:extLst>
          </p:cNvPr>
          <p:cNvSpPr txBox="1"/>
          <p:nvPr/>
        </p:nvSpPr>
        <p:spPr>
          <a:xfrm>
            <a:off x="417946" y="619990"/>
            <a:ext cx="16828653" cy="821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dirty="0">
                <a:solidFill>
                  <a:schemeClr val="bg1"/>
                </a:solidFill>
                <a:latin typeface="Times New Roman"/>
                <a:ea typeface="Calibri"/>
                <a:cs typeface="Times New Roman"/>
              </a:rPr>
              <a:t>Software Requirements:</a:t>
            </a:r>
          </a:p>
          <a:p>
            <a:pPr marL="228600" indent="-228600">
              <a:buFont typeface=""/>
              <a:buChar char="•"/>
            </a:pPr>
            <a:r>
              <a:rPr lang="en-US" sz="4400" b="1" dirty="0">
                <a:latin typeface="Times New Roman"/>
                <a:cs typeface="Times New Roman"/>
              </a:rPr>
              <a:t>Operating System (OS):</a:t>
            </a:r>
            <a:r>
              <a:rPr lang="en-US" sz="4400" dirty="0">
                <a:latin typeface="Times New Roman"/>
                <a:cs typeface="Times New Roman"/>
              </a:rPr>
              <a:t> Platform for running the ARS software.</a:t>
            </a:r>
            <a:endParaRPr lang="en-US" sz="4400">
              <a:latin typeface="Times New Roman"/>
              <a:ea typeface="Calibri"/>
              <a:cs typeface="Times New Roman"/>
            </a:endParaRPr>
          </a:p>
          <a:p>
            <a:pPr marL="228600" lvl="1" indent="-228600">
              <a:buFont typeface=""/>
              <a:buChar char="•"/>
            </a:pPr>
            <a:r>
              <a:rPr lang="en-US" sz="4400" dirty="0">
                <a:latin typeface="Times New Roman"/>
                <a:cs typeface="Times New Roman"/>
              </a:rPr>
              <a:t>Options: Popular server operating systems like Microsoft Windows Server, Linux distributions (e.g., Ubuntu Server, Red Hat Enterprise Linux).</a:t>
            </a:r>
            <a:endParaRPr lang="en-US" sz="4400">
              <a:latin typeface="Times New Roman"/>
              <a:ea typeface="Calibri"/>
              <a:cs typeface="Times New Roman"/>
            </a:endParaRPr>
          </a:p>
          <a:p>
            <a:pPr marL="228600" lvl="1" indent="-228600">
              <a:buFont typeface=""/>
              <a:buChar char="•"/>
            </a:pPr>
            <a:r>
              <a:rPr lang="en-US" sz="4400" dirty="0">
                <a:latin typeface="Times New Roman"/>
                <a:cs typeface="Times New Roman"/>
              </a:rPr>
              <a:t>Justification: Provides a stable and secure foundation for the application.</a:t>
            </a:r>
            <a:endParaRPr lang="en-US" sz="4400">
              <a:latin typeface="Times New Roman"/>
              <a:ea typeface="Calibri"/>
              <a:cs typeface="Times New Roman"/>
            </a:endParaRPr>
          </a:p>
          <a:p>
            <a:pPr marL="228600" indent="-228600">
              <a:buFont typeface=""/>
              <a:buChar char="•"/>
            </a:pPr>
            <a:r>
              <a:rPr lang="en-US" sz="4400" b="1" dirty="0">
                <a:latin typeface="Times New Roman"/>
                <a:cs typeface="Times New Roman"/>
              </a:rPr>
              <a:t>Database Management System (DBMS):</a:t>
            </a:r>
            <a:r>
              <a:rPr lang="en-US" sz="4400" dirty="0">
                <a:latin typeface="Times New Roman"/>
                <a:cs typeface="Times New Roman"/>
              </a:rPr>
              <a:t> Stores and manages airline data.</a:t>
            </a:r>
            <a:endParaRPr lang="en-US" sz="4400">
              <a:latin typeface="Times New Roman"/>
              <a:ea typeface="Calibri"/>
              <a:cs typeface="Times New Roman"/>
            </a:endParaRPr>
          </a:p>
          <a:p>
            <a:pPr marL="228600" lvl="1" indent="-228600">
              <a:buFont typeface=""/>
              <a:buChar char="•"/>
            </a:pPr>
            <a:r>
              <a:rPr lang="en-US" sz="4400" dirty="0">
                <a:latin typeface="Times New Roman"/>
                <a:cs typeface="Times New Roman"/>
              </a:rPr>
              <a:t>Options: Industry-standard relational databases like MySQL, Oracle Database, Microsoft SQL Server.</a:t>
            </a:r>
            <a:endParaRPr lang="en-US" sz="4400">
              <a:latin typeface="Times New Roman"/>
              <a:ea typeface="Calibri"/>
              <a:cs typeface="Times New Roman"/>
            </a:endParaRPr>
          </a:p>
          <a:p>
            <a:pPr marL="228600" lvl="1" indent="-228600">
              <a:buFont typeface=""/>
              <a:buChar char="•"/>
            </a:pPr>
            <a:r>
              <a:rPr lang="en-US" sz="4400" dirty="0">
                <a:latin typeface="Times New Roman"/>
                <a:cs typeface="Times New Roman"/>
              </a:rPr>
              <a:t>Justification: Efficient storage, retrieval, and manipulation of large datasets (flights, passengers, bookings).</a:t>
            </a:r>
            <a:endParaRPr lang="en-US" sz="4400">
              <a:latin typeface="Times New Roman"/>
              <a:ea typeface="Calibri"/>
              <a:cs typeface="Times New Roman"/>
            </a:endParaRPr>
          </a:p>
        </p:txBody>
      </p:sp>
      <p:sp>
        <p:nvSpPr>
          <p:cNvPr id="4" name="Freeform 35">
            <a:extLst>
              <a:ext uri="{FF2B5EF4-FFF2-40B4-BE49-F238E27FC236}">
                <a16:creationId xmlns:a16="http://schemas.microsoft.com/office/drawing/2014/main" id="{B9FDB5C3-B6AE-6CFC-8245-5E12DF08E8EB}"/>
              </a:ext>
            </a:extLst>
          </p:cNvPr>
          <p:cNvSpPr/>
          <p:nvPr/>
        </p:nvSpPr>
        <p:spPr>
          <a:xfrm rot="16529089" flipH="1">
            <a:off x="15840194" y="-205383"/>
            <a:ext cx="1541492" cy="2150823"/>
          </a:xfrm>
          <a:custGeom>
            <a:avLst/>
            <a:gdLst/>
            <a:ahLst/>
            <a:cxnLst/>
            <a:rect l="l" t="t" r="r" b="b"/>
            <a:pathLst>
              <a:path w="2465127" h="2150824">
                <a:moveTo>
                  <a:pt x="2465127" y="0"/>
                </a:moveTo>
                <a:lnTo>
                  <a:pt x="0" y="0"/>
                </a:lnTo>
                <a:lnTo>
                  <a:pt x="0" y="2150824"/>
                </a:lnTo>
                <a:lnTo>
                  <a:pt x="2465127" y="2150824"/>
                </a:lnTo>
                <a:lnTo>
                  <a:pt x="246512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35">
            <a:extLst>
              <a:ext uri="{FF2B5EF4-FFF2-40B4-BE49-F238E27FC236}">
                <a16:creationId xmlns:a16="http://schemas.microsoft.com/office/drawing/2014/main" id="{A07B5736-FC04-509A-7394-A7AA673330B8}"/>
              </a:ext>
            </a:extLst>
          </p:cNvPr>
          <p:cNvSpPr/>
          <p:nvPr/>
        </p:nvSpPr>
        <p:spPr>
          <a:xfrm rot="7260000" flipH="1">
            <a:off x="479188" y="8183302"/>
            <a:ext cx="2626764" cy="2612641"/>
          </a:xfrm>
          <a:custGeom>
            <a:avLst/>
            <a:gdLst/>
            <a:ahLst/>
            <a:cxnLst/>
            <a:rect l="l" t="t" r="r" b="b"/>
            <a:pathLst>
              <a:path w="2465127" h="2150824">
                <a:moveTo>
                  <a:pt x="2465127" y="0"/>
                </a:moveTo>
                <a:lnTo>
                  <a:pt x="0" y="0"/>
                </a:lnTo>
                <a:lnTo>
                  <a:pt x="0" y="2150824"/>
                </a:lnTo>
                <a:lnTo>
                  <a:pt x="2465127" y="2150824"/>
                </a:lnTo>
                <a:lnTo>
                  <a:pt x="2465127"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35384E-C873-4D38-E163-E1E1A29F4C9E}"/>
              </a:ext>
            </a:extLst>
          </p:cNvPr>
          <p:cNvSpPr txBox="1"/>
          <p:nvPr/>
        </p:nvSpPr>
        <p:spPr>
          <a:xfrm>
            <a:off x="267856" y="550717"/>
            <a:ext cx="1774074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4800" b="1" dirty="0">
              <a:solidFill>
                <a:schemeClr val="bg1"/>
              </a:solidFill>
              <a:latin typeface="Times New Roman"/>
              <a:ea typeface="Calibri"/>
              <a:cs typeface="Times New Roman"/>
            </a:endParaRPr>
          </a:p>
        </p:txBody>
      </p:sp>
      <p:sp>
        <p:nvSpPr>
          <p:cNvPr id="4" name="Freeform 14">
            <a:extLst>
              <a:ext uri="{FF2B5EF4-FFF2-40B4-BE49-F238E27FC236}">
                <a16:creationId xmlns:a16="http://schemas.microsoft.com/office/drawing/2014/main" id="{F4B09037-A42A-13FA-F928-BC441E6ADB69}"/>
              </a:ext>
            </a:extLst>
          </p:cNvPr>
          <p:cNvSpPr/>
          <p:nvPr/>
        </p:nvSpPr>
        <p:spPr>
          <a:xfrm rot="-15180000" flipV="1">
            <a:off x="15696086" y="-414226"/>
            <a:ext cx="2166802" cy="2497277"/>
          </a:xfrm>
          <a:custGeom>
            <a:avLst/>
            <a:gdLst/>
            <a:ahLst/>
            <a:cxnLst/>
            <a:rect l="l" t="t" r="r" b="b"/>
            <a:pathLst>
              <a:path w="3656164" h="3190003">
                <a:moveTo>
                  <a:pt x="0" y="3190003"/>
                </a:moveTo>
                <a:lnTo>
                  <a:pt x="3656164" y="3190003"/>
                </a:lnTo>
                <a:lnTo>
                  <a:pt x="3656164" y="0"/>
                </a:lnTo>
                <a:lnTo>
                  <a:pt x="0" y="0"/>
                </a:lnTo>
                <a:lnTo>
                  <a:pt x="0" y="319000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14">
            <a:extLst>
              <a:ext uri="{FF2B5EF4-FFF2-40B4-BE49-F238E27FC236}">
                <a16:creationId xmlns:a16="http://schemas.microsoft.com/office/drawing/2014/main" id="{141761C6-DF6F-6C1A-C4F1-04A50E29BA84}"/>
              </a:ext>
            </a:extLst>
          </p:cNvPr>
          <p:cNvSpPr/>
          <p:nvPr/>
        </p:nvSpPr>
        <p:spPr>
          <a:xfrm rot="19920000" flipV="1">
            <a:off x="421223" y="8214255"/>
            <a:ext cx="2109073" cy="2335640"/>
          </a:xfrm>
          <a:custGeom>
            <a:avLst/>
            <a:gdLst/>
            <a:ahLst/>
            <a:cxnLst/>
            <a:rect l="l" t="t" r="r" b="b"/>
            <a:pathLst>
              <a:path w="3656164" h="3190003">
                <a:moveTo>
                  <a:pt x="0" y="3190003"/>
                </a:moveTo>
                <a:lnTo>
                  <a:pt x="3656164" y="3190003"/>
                </a:lnTo>
                <a:lnTo>
                  <a:pt x="3656164" y="0"/>
                </a:lnTo>
                <a:lnTo>
                  <a:pt x="0" y="0"/>
                </a:lnTo>
                <a:lnTo>
                  <a:pt x="0" y="319000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2">
            <a:extLst>
              <a:ext uri="{FF2B5EF4-FFF2-40B4-BE49-F238E27FC236}">
                <a16:creationId xmlns:a16="http://schemas.microsoft.com/office/drawing/2014/main" id="{60A2E06D-67FA-1EB3-50A6-1EAFEBDA8A2F}"/>
              </a:ext>
            </a:extLst>
          </p:cNvPr>
          <p:cNvSpPr txBox="1"/>
          <p:nvPr/>
        </p:nvSpPr>
        <p:spPr>
          <a:xfrm>
            <a:off x="544946" y="1405082"/>
            <a:ext cx="17186562" cy="75713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5400" b="1" dirty="0">
                <a:solidFill>
                  <a:schemeClr val="bg1"/>
                </a:solidFill>
                <a:latin typeface="Times New Roman"/>
                <a:ea typeface="Calibri"/>
                <a:cs typeface="Calibri"/>
              </a:rPr>
              <a:t>Advantages:</a:t>
            </a:r>
          </a:p>
          <a:p>
            <a:pPr>
              <a:buFont typeface=""/>
              <a:buChar char="•"/>
            </a:pPr>
            <a:r>
              <a:rPr lang="en-US" sz="4800" b="1" dirty="0">
                <a:latin typeface="Times New Roman"/>
                <a:cs typeface="Times New Roman"/>
              </a:rPr>
              <a:t>Convenience:</a:t>
            </a:r>
            <a:r>
              <a:rPr lang="en-US" sz="4800" dirty="0">
                <a:latin typeface="Times New Roman"/>
                <a:cs typeface="Times New Roman"/>
              </a:rPr>
              <a:t> Passengers can search for flights, compare fares, and book tickets 24/7 from anywhere with an internet connection.</a:t>
            </a:r>
            <a:endParaRPr lang="en-US" sz="4800">
              <a:latin typeface="Times New Roman"/>
              <a:ea typeface="Calibri"/>
              <a:cs typeface="Times New Roman"/>
            </a:endParaRPr>
          </a:p>
          <a:p>
            <a:pPr>
              <a:buFont typeface=""/>
              <a:buChar char="•"/>
            </a:pPr>
            <a:r>
              <a:rPr lang="en-US" sz="4800" b="1" dirty="0">
                <a:latin typeface="Times New Roman"/>
                <a:cs typeface="Times New Roman"/>
              </a:rPr>
              <a:t>Transparency:</a:t>
            </a:r>
            <a:r>
              <a:rPr lang="en-US" sz="4800" dirty="0">
                <a:latin typeface="Times New Roman"/>
                <a:cs typeface="Times New Roman"/>
              </a:rPr>
              <a:t> Real-time availability information empowers passengers to find the best deals and make informed decisions.</a:t>
            </a:r>
            <a:endParaRPr lang="en-US" sz="4800">
              <a:latin typeface="Times New Roman"/>
              <a:ea typeface="Calibri"/>
              <a:cs typeface="Times New Roman"/>
            </a:endParaRPr>
          </a:p>
          <a:p>
            <a:pPr>
              <a:buFont typeface=""/>
              <a:buChar char="•"/>
            </a:pPr>
            <a:r>
              <a:rPr lang="en-US" sz="4800" b="1" dirty="0">
                <a:latin typeface="Times New Roman"/>
                <a:cs typeface="Times New Roman"/>
              </a:rPr>
              <a:t>Flexibility:</a:t>
            </a:r>
            <a:r>
              <a:rPr lang="en-US" sz="4800" dirty="0">
                <a:latin typeface="Times New Roman"/>
                <a:cs typeface="Times New Roman"/>
              </a:rPr>
              <a:t> Manage bookings online, including seat selection, meal preferences, and special requests.</a:t>
            </a:r>
            <a:endParaRPr lang="en-US" sz="4800">
              <a:latin typeface="Times New Roman"/>
              <a:ea typeface="Calibri"/>
              <a:cs typeface="Times New Roman"/>
            </a:endParaRPr>
          </a:p>
          <a:p>
            <a:pPr>
              <a:buFont typeface=""/>
              <a:buChar char="•"/>
            </a:pPr>
            <a:r>
              <a:rPr lang="en-US" sz="4800" b="1" dirty="0">
                <a:latin typeface="Times New Roman"/>
                <a:cs typeface="Times New Roman"/>
              </a:rPr>
              <a:t>Self-service options:</a:t>
            </a:r>
            <a:r>
              <a:rPr lang="en-US" sz="4800" dirty="0">
                <a:latin typeface="Times New Roman"/>
                <a:cs typeface="Times New Roman"/>
              </a:rPr>
              <a:t> Online check-in, mobile boarding passes, and e-tickets minimize queuing and streamline the travel process.</a:t>
            </a:r>
            <a:endParaRPr lang="en-US" sz="4800">
              <a:latin typeface="Times New Roman"/>
              <a:ea typeface="Calibri"/>
              <a:cs typeface="Times New Roman"/>
            </a:endParaRPr>
          </a:p>
          <a:p>
            <a:endParaRPr lang="en-US" sz="4800" dirty="0">
              <a:latin typeface="Times New Roman"/>
              <a:ea typeface="Calibri"/>
              <a:cs typeface="Calibri"/>
            </a:endParaRPr>
          </a:p>
        </p:txBody>
      </p:sp>
    </p:spTree>
    <p:extLst>
      <p:ext uri="{BB962C8B-B14F-4D97-AF65-F5344CB8AC3E}">
        <p14:creationId xmlns:p14="http://schemas.microsoft.com/office/powerpoint/2010/main" val="2836433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21" name="Freeform 21"/>
          <p:cNvSpPr/>
          <p:nvPr/>
        </p:nvSpPr>
        <p:spPr>
          <a:xfrm rot="15316670" flipV="1">
            <a:off x="16127528" y="7746336"/>
            <a:ext cx="2465127" cy="2150824"/>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rot="16921343">
            <a:off x="-291830" y="8029153"/>
            <a:ext cx="2303492" cy="1885278"/>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3" name="TextBox 22">
            <a:extLst>
              <a:ext uri="{FF2B5EF4-FFF2-40B4-BE49-F238E27FC236}">
                <a16:creationId xmlns:a16="http://schemas.microsoft.com/office/drawing/2014/main" id="{6C9307FC-B598-1829-4D8F-B6771E6C8CC9}"/>
              </a:ext>
            </a:extLst>
          </p:cNvPr>
          <p:cNvSpPr txBox="1"/>
          <p:nvPr/>
        </p:nvSpPr>
        <p:spPr>
          <a:xfrm>
            <a:off x="764310" y="296718"/>
            <a:ext cx="17532927" cy="97257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5400" b="1" dirty="0">
                <a:solidFill>
                  <a:schemeClr val="bg1"/>
                </a:solidFill>
                <a:latin typeface="Times New Roman"/>
                <a:ea typeface="Calibri"/>
                <a:cs typeface="Calibri"/>
              </a:rPr>
              <a:t>Applications:</a:t>
            </a:r>
          </a:p>
          <a:p>
            <a:pPr>
              <a:buFont typeface=""/>
              <a:buChar char="•"/>
            </a:pPr>
            <a:r>
              <a:rPr lang="en-US" sz="4400" b="1" dirty="0">
                <a:latin typeface="Times New Roman"/>
                <a:cs typeface="Times New Roman"/>
              </a:rPr>
              <a:t>Flight Search and Booking:</a:t>
            </a:r>
            <a:r>
              <a:rPr lang="en-US" sz="4400" dirty="0">
                <a:latin typeface="Times New Roman"/>
                <a:cs typeface="Times New Roman"/>
              </a:rPr>
              <a:t> Core functionality – search for flights based on origin, destination, date, and desired cabin class. View real-time availability and fares, and seamlessly complete ticket purchases.</a:t>
            </a:r>
            <a:endParaRPr lang="en-US" sz="4400">
              <a:latin typeface="Times New Roman"/>
              <a:ea typeface="Calibri"/>
              <a:cs typeface="Times New Roman"/>
            </a:endParaRPr>
          </a:p>
          <a:p>
            <a:pPr>
              <a:buFont typeface=""/>
              <a:buChar char="•"/>
            </a:pPr>
            <a:r>
              <a:rPr lang="en-US" sz="4400" b="1" dirty="0">
                <a:latin typeface="Times New Roman"/>
                <a:cs typeface="Times New Roman"/>
              </a:rPr>
              <a:t>Trip Management:</a:t>
            </a:r>
            <a:r>
              <a:rPr lang="en-US" sz="4400" dirty="0">
                <a:latin typeface="Times New Roman"/>
                <a:cs typeface="Times New Roman"/>
              </a:rPr>
              <a:t> Manage existing bookings online, including making changes to itineraries, selecting seats, and adding special requests (e.g., meals, extra legroom).</a:t>
            </a:r>
            <a:endParaRPr lang="en-US" sz="4400">
              <a:latin typeface="Times New Roman"/>
              <a:ea typeface="Calibri"/>
              <a:cs typeface="Times New Roman"/>
            </a:endParaRPr>
          </a:p>
          <a:p>
            <a:pPr>
              <a:buFont typeface=""/>
              <a:buChar char="•"/>
            </a:pPr>
            <a:r>
              <a:rPr lang="en-US" sz="4400" b="1" dirty="0">
                <a:latin typeface="Times New Roman"/>
                <a:cs typeface="Times New Roman"/>
              </a:rPr>
              <a:t>Online Check-in:</a:t>
            </a:r>
            <a:r>
              <a:rPr lang="en-US" sz="4400" dirty="0">
                <a:latin typeface="Times New Roman"/>
                <a:cs typeface="Times New Roman"/>
              </a:rPr>
              <a:t> Save time at the airport by checking in for flights online and obtaining mobile boarding passes.</a:t>
            </a:r>
            <a:endParaRPr lang="en-US" sz="4400">
              <a:latin typeface="Times New Roman"/>
              <a:ea typeface="Calibri"/>
              <a:cs typeface="Times New Roman"/>
            </a:endParaRPr>
          </a:p>
          <a:p>
            <a:pPr>
              <a:buFont typeface=""/>
              <a:buChar char="•"/>
            </a:pPr>
            <a:r>
              <a:rPr lang="en-US" sz="4400" b="1" dirty="0">
                <a:latin typeface="Times New Roman"/>
                <a:cs typeface="Times New Roman"/>
              </a:rPr>
              <a:t>Travel Information:</a:t>
            </a:r>
            <a:r>
              <a:rPr lang="en-US" sz="4400" dirty="0">
                <a:latin typeface="Times New Roman"/>
                <a:cs typeface="Times New Roman"/>
              </a:rPr>
              <a:t> Access valuable travel resources, including airport information, baggage allowances, and flight status updates.</a:t>
            </a:r>
            <a:endParaRPr lang="en-US" sz="4400">
              <a:latin typeface="Times New Roman"/>
              <a:ea typeface="Calibri"/>
              <a:cs typeface="Times New Roman"/>
            </a:endParaRPr>
          </a:p>
          <a:p>
            <a:pPr marL="228600" indent="-228600">
              <a:buFont typeface=""/>
              <a:buChar char="•"/>
            </a:pPr>
            <a:r>
              <a:rPr lang="en-US" sz="4400" b="1" dirty="0">
                <a:latin typeface="Times New Roman"/>
                <a:cs typeface="Times New Roman"/>
              </a:rPr>
              <a:t>Loyalty Programs:</a:t>
            </a:r>
            <a:r>
              <a:rPr lang="en-US" sz="4400" dirty="0">
                <a:latin typeface="Times New Roman"/>
                <a:cs typeface="Times New Roman"/>
              </a:rPr>
              <a:t> Manage frequent flyer accounts, track points, and redeem rewards for future travel.</a:t>
            </a:r>
            <a:endParaRPr lang="en-US" sz="4400">
              <a:latin typeface="Times New Roman"/>
              <a:ea typeface="Calibri"/>
              <a:cs typeface="Times New Roman"/>
            </a:endParaRPr>
          </a:p>
          <a:p>
            <a:endParaRPr lang="en-US" sz="4400" dirty="0">
              <a:latin typeface="Times New Roman"/>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0F6E9246-6803-43A6-18F2-7F316C4E9BAE}"/>
              </a:ext>
            </a:extLst>
          </p:cNvPr>
          <p:cNvSpPr txBox="1"/>
          <p:nvPr/>
        </p:nvSpPr>
        <p:spPr>
          <a:xfrm>
            <a:off x="495732" y="410585"/>
            <a:ext cx="678410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dirty="0">
                <a:solidFill>
                  <a:schemeClr val="bg1"/>
                </a:solidFill>
                <a:latin typeface="Times New Roman"/>
                <a:ea typeface="Calibri"/>
                <a:cs typeface="Times New Roman"/>
              </a:rPr>
              <a:t>RESULT ANALYSIS:</a:t>
            </a:r>
            <a:endParaRPr lang="en-US" sz="5400">
              <a:solidFill>
                <a:schemeClr val="bg1"/>
              </a:solidFill>
              <a:latin typeface="Times New Roman"/>
              <a:cs typeface="Times New Roman"/>
            </a:endParaRPr>
          </a:p>
        </p:txBody>
      </p:sp>
      <p:pic>
        <p:nvPicPr>
          <p:cNvPr id="2" name="Picture 1" descr="A screenshot of a computer&#10;&#10;Description automatically generated">
            <a:extLst>
              <a:ext uri="{FF2B5EF4-FFF2-40B4-BE49-F238E27FC236}">
                <a16:creationId xmlns:a16="http://schemas.microsoft.com/office/drawing/2014/main" id="{06869343-BBCA-92DA-9AFD-2B61A3E3B7C5}"/>
              </a:ext>
            </a:extLst>
          </p:cNvPr>
          <p:cNvPicPr>
            <a:picLocks noChangeAspect="1"/>
          </p:cNvPicPr>
          <p:nvPr/>
        </p:nvPicPr>
        <p:blipFill>
          <a:blip r:embed="rId2"/>
          <a:stretch>
            <a:fillRect/>
          </a:stretch>
        </p:blipFill>
        <p:spPr>
          <a:xfrm>
            <a:off x="949472" y="1586923"/>
            <a:ext cx="16238968" cy="823306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pic>
        <p:nvPicPr>
          <p:cNvPr id="2" name="Picture 1" descr="A computer screen shot of a registration page&#10;&#10;Description automatically generated">
            <a:extLst>
              <a:ext uri="{FF2B5EF4-FFF2-40B4-BE49-F238E27FC236}">
                <a16:creationId xmlns:a16="http://schemas.microsoft.com/office/drawing/2014/main" id="{670CE302-EC31-0EBE-3B22-578300316C42}"/>
              </a:ext>
            </a:extLst>
          </p:cNvPr>
          <p:cNvPicPr>
            <a:picLocks noChangeAspect="1"/>
          </p:cNvPicPr>
          <p:nvPr/>
        </p:nvPicPr>
        <p:blipFill>
          <a:blip r:embed="rId2"/>
          <a:stretch>
            <a:fillRect/>
          </a:stretch>
        </p:blipFill>
        <p:spPr>
          <a:xfrm>
            <a:off x="908050" y="854075"/>
            <a:ext cx="16494990" cy="86712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29C14C21-CAF4-CF04-F642-054879826BA2}"/>
              </a:ext>
            </a:extLst>
          </p:cNvPr>
          <p:cNvPicPr>
            <a:picLocks noChangeAspect="1"/>
          </p:cNvPicPr>
          <p:nvPr/>
        </p:nvPicPr>
        <p:blipFill>
          <a:blip r:embed="rId2"/>
          <a:stretch>
            <a:fillRect/>
          </a:stretch>
        </p:blipFill>
        <p:spPr>
          <a:xfrm>
            <a:off x="682625" y="989303"/>
            <a:ext cx="16518658" cy="851621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58081334-6AB5-AA9F-4D8E-F50F5F9FB8B1}"/>
              </a:ext>
            </a:extLst>
          </p:cNvPr>
          <p:cNvPicPr>
            <a:picLocks noChangeAspect="1"/>
          </p:cNvPicPr>
          <p:nvPr/>
        </p:nvPicPr>
        <p:blipFill>
          <a:blip r:embed="rId2"/>
          <a:stretch>
            <a:fillRect/>
          </a:stretch>
        </p:blipFill>
        <p:spPr>
          <a:xfrm>
            <a:off x="1131455" y="1045008"/>
            <a:ext cx="16221363" cy="842789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7FB588-0E7D-A7BB-3485-46B645C2B0CC}"/>
              </a:ext>
            </a:extLst>
          </p:cNvPr>
          <p:cNvSpPr txBox="1"/>
          <p:nvPr/>
        </p:nvSpPr>
        <p:spPr>
          <a:xfrm>
            <a:off x="591128" y="516081"/>
            <a:ext cx="15246926" cy="84023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dirty="0">
                <a:solidFill>
                  <a:schemeClr val="bg1"/>
                </a:solidFill>
                <a:latin typeface="Times New Roman"/>
                <a:cs typeface="Times New Roman"/>
              </a:rPr>
              <a:t>Future Scope:</a:t>
            </a:r>
          </a:p>
          <a:p>
            <a:r>
              <a:rPr lang="en-US" sz="4800" dirty="0">
                <a:latin typeface="Times New Roman"/>
                <a:cs typeface="Times New Roman"/>
              </a:rPr>
              <a:t>Virtual reality technology may be integrated to offer immersive booking experiences and virtual tours of aircraft cabins.</a:t>
            </a:r>
            <a:br>
              <a:rPr lang="en-US" sz="4800" dirty="0">
                <a:latin typeface="Times New Roman"/>
              </a:rPr>
            </a:br>
            <a:br>
              <a:rPr lang="en-US" sz="4800" dirty="0">
                <a:latin typeface="Times New Roman"/>
              </a:rPr>
            </a:br>
            <a:r>
              <a:rPr lang="en-US" sz="4800" dirty="0">
                <a:latin typeface="Times New Roman"/>
                <a:cs typeface="Times New Roman"/>
              </a:rPr>
              <a:t>Predictive analytics can help airlines anticipate demand, optimize pricing, and personalize offers for customers.</a:t>
            </a:r>
            <a:br>
              <a:rPr lang="en-US" sz="4800" dirty="0">
                <a:latin typeface="Times New Roman"/>
              </a:rPr>
            </a:br>
            <a:br>
              <a:rPr lang="en-US" sz="4800" dirty="0">
                <a:latin typeface="Times New Roman"/>
              </a:rPr>
            </a:br>
            <a:r>
              <a:rPr lang="en-US" sz="4800" dirty="0">
                <a:latin typeface="Times New Roman"/>
                <a:cs typeface="Times New Roman"/>
              </a:rPr>
              <a:t>Seamless integration with smart devices and voice assistants may redefine how customers interact with airline reservation systems.</a:t>
            </a:r>
            <a:endParaRPr lang="en-US" sz="4800">
              <a:latin typeface="Times New Roman"/>
              <a:cs typeface="Times New Roman"/>
            </a:endParaRPr>
          </a:p>
        </p:txBody>
      </p:sp>
      <p:sp>
        <p:nvSpPr>
          <p:cNvPr id="4" name="Freeform 13">
            <a:extLst>
              <a:ext uri="{FF2B5EF4-FFF2-40B4-BE49-F238E27FC236}">
                <a16:creationId xmlns:a16="http://schemas.microsoft.com/office/drawing/2014/main" id="{CB6C0D91-12F6-3296-D73E-2EDDC3E400FD}"/>
              </a:ext>
            </a:extLst>
          </p:cNvPr>
          <p:cNvSpPr/>
          <p:nvPr/>
        </p:nvSpPr>
        <p:spPr>
          <a:xfrm>
            <a:off x="13505302" y="184976"/>
            <a:ext cx="4665446" cy="1720383"/>
          </a:xfrm>
          <a:custGeom>
            <a:avLst/>
            <a:gdLst/>
            <a:ahLst/>
            <a:cxnLst/>
            <a:rect l="l" t="t" r="r" b="b"/>
            <a:pathLst>
              <a:path w="4665446" h="1720383">
                <a:moveTo>
                  <a:pt x="0" y="0"/>
                </a:moveTo>
                <a:lnTo>
                  <a:pt x="4665445" y="0"/>
                </a:lnTo>
                <a:lnTo>
                  <a:pt x="4665445" y="1720383"/>
                </a:lnTo>
                <a:lnTo>
                  <a:pt x="0" y="17203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4B8090-23D7-C9B7-4F21-E6C36AE36B4A}"/>
              </a:ext>
            </a:extLst>
          </p:cNvPr>
          <p:cNvSpPr txBox="1"/>
          <p:nvPr/>
        </p:nvSpPr>
        <p:spPr>
          <a:xfrm>
            <a:off x="568036" y="1243445"/>
            <a:ext cx="13607472" cy="70173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dirty="0">
                <a:solidFill>
                  <a:schemeClr val="bg1"/>
                </a:solidFill>
                <a:latin typeface="Times New Roman"/>
                <a:cs typeface="Times New Roman"/>
              </a:rPr>
              <a:t>Conclusion:</a:t>
            </a:r>
          </a:p>
          <a:p>
            <a:r>
              <a:rPr lang="en-US" sz="4400" dirty="0">
                <a:latin typeface="Times New Roman"/>
                <a:cs typeface="Times New Roman"/>
              </a:rPr>
              <a:t>Airline reservation systems play a critical role in modern air travel by streamlining booking processes and enhancing customer experiences.</a:t>
            </a:r>
            <a:br>
              <a:rPr lang="en-US" sz="4400" dirty="0">
                <a:latin typeface="Times New Roman"/>
              </a:rPr>
            </a:br>
            <a:r>
              <a:rPr lang="en-US" sz="4400" dirty="0">
                <a:latin typeface="Times New Roman"/>
                <a:cs typeface="Times New Roman"/>
              </a:rPr>
              <a:t>Continuous innovation and adaptation to emerging technologies will shape the future of airline reservation systems.</a:t>
            </a:r>
            <a:br>
              <a:rPr lang="en-US" sz="4400" dirty="0">
                <a:latin typeface="Times New Roman"/>
              </a:rPr>
            </a:br>
            <a:r>
              <a:rPr lang="en-US" sz="4400" dirty="0">
                <a:latin typeface="Times New Roman"/>
                <a:cs typeface="Times New Roman"/>
              </a:rPr>
              <a:t>By prioritizing reliability, security, and customer satisfaction, airlines can leverage reservation systems to stay competitive in the industry.</a:t>
            </a:r>
            <a:endParaRPr lang="en-US" sz="4400">
              <a:latin typeface="Times New Roman"/>
              <a:cs typeface="Times New Roman"/>
            </a:endParaRPr>
          </a:p>
        </p:txBody>
      </p:sp>
      <p:pic>
        <p:nvPicPr>
          <p:cNvPr id="3" name="Picture 2" descr="airlines clipart online booking 10 free Cliparts | Download images on  Clipground 2024">
            <a:extLst>
              <a:ext uri="{FF2B5EF4-FFF2-40B4-BE49-F238E27FC236}">
                <a16:creationId xmlns:a16="http://schemas.microsoft.com/office/drawing/2014/main" id="{AB785829-6744-F3B6-DADF-C25D70EF15FB}"/>
              </a:ext>
            </a:extLst>
          </p:cNvPr>
          <p:cNvPicPr>
            <a:picLocks noChangeAspect="1"/>
          </p:cNvPicPr>
          <p:nvPr/>
        </p:nvPicPr>
        <p:blipFill>
          <a:blip r:embed="rId2"/>
          <a:stretch>
            <a:fillRect/>
          </a:stretch>
        </p:blipFill>
        <p:spPr>
          <a:xfrm>
            <a:off x="12967855" y="1083740"/>
            <a:ext cx="4913744" cy="36629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pic>
        <p:nvPicPr>
          <p:cNvPr id="2" name="Picture 1" descr="Airline Reservation System">
            <a:extLst>
              <a:ext uri="{FF2B5EF4-FFF2-40B4-BE49-F238E27FC236}">
                <a16:creationId xmlns:a16="http://schemas.microsoft.com/office/drawing/2014/main" id="{4E4A9396-EFC7-6474-2321-0436FF139C81}"/>
              </a:ext>
            </a:extLst>
          </p:cNvPr>
          <p:cNvPicPr>
            <a:picLocks noChangeAspect="1"/>
          </p:cNvPicPr>
          <p:nvPr/>
        </p:nvPicPr>
        <p:blipFill>
          <a:blip r:embed="rId2"/>
          <a:stretch>
            <a:fillRect/>
          </a:stretch>
        </p:blipFill>
        <p:spPr>
          <a:xfrm>
            <a:off x="-32328" y="4464"/>
            <a:ext cx="18318020" cy="10266525"/>
          </a:xfrm>
          <a:prstGeom prst="rect">
            <a:avLst/>
          </a:prstGeom>
        </p:spPr>
      </p:pic>
      <p:sp>
        <p:nvSpPr>
          <p:cNvPr id="3" name="TextBox 2">
            <a:extLst>
              <a:ext uri="{FF2B5EF4-FFF2-40B4-BE49-F238E27FC236}">
                <a16:creationId xmlns:a16="http://schemas.microsoft.com/office/drawing/2014/main" id="{C95ED903-2593-E1D4-B0DE-C8982EC40EDA}"/>
              </a:ext>
            </a:extLst>
          </p:cNvPr>
          <p:cNvSpPr txBox="1"/>
          <p:nvPr/>
        </p:nvSpPr>
        <p:spPr>
          <a:xfrm>
            <a:off x="8201380" y="4423563"/>
            <a:ext cx="799638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dirty="0">
                <a:latin typeface="Times New Roman"/>
                <a:cs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943</Words>
  <Application>Microsoft Office PowerPoint</Application>
  <PresentationFormat>Custom</PresentationFormat>
  <Paragraphs>57</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Times New Roman</vt:lpstr>
      <vt:lpstr>Open Sans Bold</vt:lpstr>
      <vt:lpstr>Public Sans Bold</vt:lpstr>
      <vt:lpstr>Arial</vt:lpstr>
      <vt:lpstr>Calibri</vt:lpstr>
      <vt:lpstr>Open Sans Extra Bold</vt:lpstr>
      <vt:lpstr>Optima</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Minimalist Travel Agency Presentation</dc:title>
  <cp:lastModifiedBy>vigneshthalla8@outlook.com</cp:lastModifiedBy>
  <cp:revision>459</cp:revision>
  <dcterms:created xsi:type="dcterms:W3CDTF">2006-08-16T00:00:00Z</dcterms:created>
  <dcterms:modified xsi:type="dcterms:W3CDTF">2024-12-08T14:12:15Z</dcterms:modified>
  <dc:identifier>DAGIx34AUtQ</dc:identifier>
</cp:coreProperties>
</file>