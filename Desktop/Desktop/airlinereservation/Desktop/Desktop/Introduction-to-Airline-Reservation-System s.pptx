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gamma.app"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hyperlink" Target="https://gamma.app" TargetMode="Externa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hyperlink" Target="https://gamma.app"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9" Type="http://schemas.openxmlformats.org/officeDocument/2006/relationships/hyperlink" Target="https://gamma.app"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6" Type="http://schemas.openxmlformats.org/officeDocument/2006/relationships/hyperlink" Target="https://gamma.app" TargetMode="Externa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9" Type="http://schemas.openxmlformats.org/officeDocument/2006/relationships/hyperlink" Target="https://gamma.app" TargetMode="Externa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5" Type="http://schemas.openxmlformats.org/officeDocument/2006/relationships/hyperlink" Target="https://gamma.app" TargetMode="Externa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pic>
        <p:nvPicPr>
          <p:cNvPr id="5" name="Image 2" descr="preencoded.png">    </p:cNvPr>
          <p:cNvPicPr>
            <a:picLocks noChangeAspect="1"/>
          </p:cNvPicPr>
          <p:nvPr/>
        </p:nvPicPr>
        <p:blipFill>
          <a:blip r:embed="rId3"/>
          <a:stretch>
            <a:fillRect/>
          </a:stretch>
        </p:blipFill>
        <p:spPr>
          <a:xfrm>
            <a:off x="9452610" y="2491740"/>
            <a:ext cx="4869180" cy="3246120"/>
          </a:xfrm>
          <a:prstGeom prst="rect">
            <a:avLst/>
          </a:prstGeom>
        </p:spPr>
      </p:pic>
      <p:sp>
        <p:nvSpPr>
          <p:cNvPr id="6" name="Text 1"/>
          <p:cNvSpPr/>
          <p:nvPr/>
        </p:nvSpPr>
        <p:spPr>
          <a:xfrm>
            <a:off x="864037" y="937974"/>
            <a:ext cx="7415927" cy="4008120"/>
          </a:xfrm>
          <a:prstGeom prst="rect">
            <a:avLst/>
          </a:prstGeom>
          <a:noFill/>
          <a:ln/>
        </p:spPr>
        <p:txBody>
          <a:bodyPr wrap="square" rtlCol="0" anchor="t"/>
          <a:lstStyle/>
          <a:p>
            <a:pPr indent="0" marL="0">
              <a:lnSpc>
                <a:spcPts val="7890"/>
              </a:lnSpc>
              <a:buNone/>
            </a:pPr>
            <a:r>
              <a:rPr lang="en-US" sz="6312" dirty="0">
                <a:solidFill>
                  <a:srgbClr val="FFFFFF"/>
                </a:solidFill>
                <a:latin typeface="Unbounded" pitchFamily="34" charset="0"/>
                <a:ea typeface="Unbounded" pitchFamily="34" charset="-122"/>
                <a:cs typeface="Unbounded" pitchFamily="34" charset="-120"/>
              </a:rPr>
              <a:t>Introduction to Airline Reservation System</a:t>
            </a:r>
            <a:endParaRPr lang="en-US" sz="6312" dirty="0"/>
          </a:p>
        </p:txBody>
      </p:sp>
      <p:sp>
        <p:nvSpPr>
          <p:cNvPr id="7" name="Text 2"/>
          <p:cNvSpPr/>
          <p:nvPr/>
        </p:nvSpPr>
        <p:spPr>
          <a:xfrm>
            <a:off x="864037" y="5316379"/>
            <a:ext cx="7415927" cy="1975247"/>
          </a:xfrm>
          <a:prstGeom prst="rect">
            <a:avLst/>
          </a:prstGeom>
          <a:noFill/>
          <a:ln/>
        </p:spPr>
        <p:txBody>
          <a:bodyPr wrap="square" rtlCol="0" anchor="t"/>
          <a:lstStyle/>
          <a:p>
            <a:pPr indent="0" marL="0">
              <a:lnSpc>
                <a:spcPts val="3110"/>
              </a:lnSpc>
              <a:buNone/>
            </a:pPr>
            <a:r>
              <a:rPr lang="en-US" sz="1944" dirty="0">
                <a:solidFill>
                  <a:srgbClr val="CAD6DE"/>
                </a:solidFill>
                <a:latin typeface="Cabin" pitchFamily="34" charset="0"/>
                <a:ea typeface="Cabin" pitchFamily="34" charset="-122"/>
                <a:cs typeface="Cabin" pitchFamily="34" charset="-120"/>
              </a:rPr>
              <a:t> The airline reservation system is the backbone of the modern air travel industry, enabling passengers to effortlessly book flights, select seats, and manage their travel plans. This comprehensive system streamlines the booking process, improves operational efficiency, and enhances the overall customer experience.</a:t>
            </a:r>
            <a:endParaRPr lang="en-US" sz="1944" dirty="0"/>
          </a:p>
        </p:txBody>
      </p:sp>
      <p:pic>
        <p:nvPicPr>
          <p:cNvPr id="8" name="Image 3" descr="preencoded.png">
            <a:hlinkClick r:id="rId5" tooltip=""/>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31386"/>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0" y="0"/>
            <a:ext cx="14630400" cy="2599730"/>
          </a:xfrm>
          <a:prstGeom prst="rect">
            <a:avLst/>
          </a:prstGeom>
        </p:spPr>
      </p:pic>
      <p:sp>
        <p:nvSpPr>
          <p:cNvPr id="5" name="Text 1"/>
          <p:cNvSpPr/>
          <p:nvPr/>
        </p:nvSpPr>
        <p:spPr>
          <a:xfrm>
            <a:off x="1968698" y="3171587"/>
            <a:ext cx="8028265" cy="611624"/>
          </a:xfrm>
          <a:prstGeom prst="rect">
            <a:avLst/>
          </a:prstGeom>
          <a:noFill/>
          <a:ln/>
        </p:spPr>
        <p:txBody>
          <a:bodyPr wrap="none" rtlCol="0" anchor="t"/>
          <a:lstStyle/>
          <a:p>
            <a:pPr indent="0" marL="0">
              <a:lnSpc>
                <a:spcPts val="4817"/>
              </a:lnSpc>
              <a:buNone/>
            </a:pPr>
            <a:r>
              <a:rPr lang="en-US" sz="3853" dirty="0">
                <a:solidFill>
                  <a:srgbClr val="FFFFFF"/>
                </a:solidFill>
                <a:latin typeface="Unbounded" pitchFamily="34" charset="0"/>
                <a:ea typeface="Unbounded" pitchFamily="34" charset="-122"/>
                <a:cs typeface="Unbounded" pitchFamily="34" charset="-120"/>
              </a:rPr>
              <a:t>Key Features of the System</a:t>
            </a:r>
            <a:endParaRPr lang="en-US" sz="3853" dirty="0"/>
          </a:p>
        </p:txBody>
      </p:sp>
      <p:sp>
        <p:nvSpPr>
          <p:cNvPr id="6" name="Shape 2"/>
          <p:cNvSpPr/>
          <p:nvPr/>
        </p:nvSpPr>
        <p:spPr>
          <a:xfrm>
            <a:off x="1968698" y="4095155"/>
            <a:ext cx="5242560" cy="1511856"/>
          </a:xfrm>
          <a:prstGeom prst="roundRect">
            <a:avLst>
              <a:gd name="adj" fmla="val 4127"/>
            </a:avLst>
          </a:prstGeom>
          <a:solidFill>
            <a:srgbClr val="223D4D"/>
          </a:solidFill>
          <a:ln/>
        </p:spPr>
      </p:sp>
      <p:sp>
        <p:nvSpPr>
          <p:cNvPr id="7" name="Text 3"/>
          <p:cNvSpPr/>
          <p:nvPr/>
        </p:nvSpPr>
        <p:spPr>
          <a:xfrm>
            <a:off x="2176582" y="4303038"/>
            <a:ext cx="2446853" cy="305753"/>
          </a:xfrm>
          <a:prstGeom prst="rect">
            <a:avLst/>
          </a:prstGeom>
          <a:noFill/>
          <a:ln/>
        </p:spPr>
        <p:txBody>
          <a:bodyPr wrap="none" rtlCol="0" anchor="t"/>
          <a:lstStyle/>
          <a:p>
            <a:pPr indent="0" marL="0">
              <a:lnSpc>
                <a:spcPts val="2408"/>
              </a:lnSpc>
              <a:buNone/>
            </a:pPr>
            <a:r>
              <a:rPr lang="en-US" sz="1927" dirty="0">
                <a:solidFill>
                  <a:srgbClr val="FFFFFF"/>
                </a:solidFill>
                <a:latin typeface="Unbounded" pitchFamily="34" charset="0"/>
                <a:ea typeface="Unbounded" pitchFamily="34" charset="-122"/>
                <a:cs typeface="Unbounded" pitchFamily="34" charset="-120"/>
              </a:rPr>
              <a:t>Flight Search</a:t>
            </a:r>
            <a:endParaRPr lang="en-US" sz="1927" dirty="0"/>
          </a:p>
        </p:txBody>
      </p:sp>
      <p:sp>
        <p:nvSpPr>
          <p:cNvPr id="8" name="Text 4"/>
          <p:cNvSpPr/>
          <p:nvPr/>
        </p:nvSpPr>
        <p:spPr>
          <a:xfrm>
            <a:off x="2176582" y="4733568"/>
            <a:ext cx="4826794" cy="665559"/>
          </a:xfrm>
          <a:prstGeom prst="rect">
            <a:avLst/>
          </a:prstGeom>
          <a:noFill/>
          <a:ln/>
        </p:spPr>
        <p:txBody>
          <a:bodyPr wrap="square" rtlCol="0" anchor="t"/>
          <a:lstStyle/>
          <a:p>
            <a:pPr indent="0" marL="0">
              <a:lnSpc>
                <a:spcPts val="2620"/>
              </a:lnSpc>
              <a:buNone/>
            </a:pPr>
            <a:r>
              <a:rPr lang="en-US" sz="1638" dirty="0">
                <a:solidFill>
                  <a:srgbClr val="CAD6DE"/>
                </a:solidFill>
                <a:latin typeface="Cabin" pitchFamily="34" charset="0"/>
                <a:ea typeface="Cabin" pitchFamily="34" charset="-122"/>
                <a:cs typeface="Cabin" pitchFamily="34" charset="-120"/>
              </a:rPr>
              <a:t>Allows users to search for available flights based on destination, travel dates, and other preferences.</a:t>
            </a:r>
            <a:endParaRPr lang="en-US" sz="1638" dirty="0"/>
          </a:p>
        </p:txBody>
      </p:sp>
      <p:sp>
        <p:nvSpPr>
          <p:cNvPr id="9" name="Shape 5"/>
          <p:cNvSpPr/>
          <p:nvPr/>
        </p:nvSpPr>
        <p:spPr>
          <a:xfrm>
            <a:off x="7419142" y="4095155"/>
            <a:ext cx="5242560" cy="1511856"/>
          </a:xfrm>
          <a:prstGeom prst="roundRect">
            <a:avLst>
              <a:gd name="adj" fmla="val 4127"/>
            </a:avLst>
          </a:prstGeom>
          <a:solidFill>
            <a:srgbClr val="223D4D"/>
          </a:solidFill>
          <a:ln/>
        </p:spPr>
      </p:sp>
      <p:sp>
        <p:nvSpPr>
          <p:cNvPr id="10" name="Text 6"/>
          <p:cNvSpPr/>
          <p:nvPr/>
        </p:nvSpPr>
        <p:spPr>
          <a:xfrm>
            <a:off x="7627025" y="4303038"/>
            <a:ext cx="2446853" cy="305753"/>
          </a:xfrm>
          <a:prstGeom prst="rect">
            <a:avLst/>
          </a:prstGeom>
          <a:noFill/>
          <a:ln/>
        </p:spPr>
        <p:txBody>
          <a:bodyPr wrap="none" rtlCol="0" anchor="t"/>
          <a:lstStyle/>
          <a:p>
            <a:pPr indent="0" marL="0">
              <a:lnSpc>
                <a:spcPts val="2408"/>
              </a:lnSpc>
              <a:buNone/>
            </a:pPr>
            <a:r>
              <a:rPr lang="en-US" sz="1927" dirty="0">
                <a:solidFill>
                  <a:srgbClr val="FFFFFF"/>
                </a:solidFill>
                <a:latin typeface="Unbounded" pitchFamily="34" charset="0"/>
                <a:ea typeface="Unbounded" pitchFamily="34" charset="-122"/>
                <a:cs typeface="Unbounded" pitchFamily="34" charset="-120"/>
              </a:rPr>
              <a:t>Seat Selection</a:t>
            </a:r>
            <a:endParaRPr lang="en-US" sz="1927" dirty="0"/>
          </a:p>
        </p:txBody>
      </p:sp>
      <p:sp>
        <p:nvSpPr>
          <p:cNvPr id="11" name="Text 7"/>
          <p:cNvSpPr/>
          <p:nvPr/>
        </p:nvSpPr>
        <p:spPr>
          <a:xfrm>
            <a:off x="7627025" y="4733568"/>
            <a:ext cx="4826794" cy="665559"/>
          </a:xfrm>
          <a:prstGeom prst="rect">
            <a:avLst/>
          </a:prstGeom>
          <a:noFill/>
          <a:ln/>
        </p:spPr>
        <p:txBody>
          <a:bodyPr wrap="square" rtlCol="0" anchor="t"/>
          <a:lstStyle/>
          <a:p>
            <a:pPr indent="0" marL="0">
              <a:lnSpc>
                <a:spcPts val="2620"/>
              </a:lnSpc>
              <a:buNone/>
            </a:pPr>
            <a:r>
              <a:rPr lang="en-US" sz="1638" dirty="0">
                <a:solidFill>
                  <a:srgbClr val="CAD6DE"/>
                </a:solidFill>
                <a:latin typeface="Cabin" pitchFamily="34" charset="0"/>
                <a:ea typeface="Cabin" pitchFamily="34" charset="-122"/>
                <a:cs typeface="Cabin" pitchFamily="34" charset="-120"/>
              </a:rPr>
              <a:t>Enables passengers to choose their preferred seats, view seat availability, and manage seat assignments.</a:t>
            </a:r>
            <a:endParaRPr lang="en-US" sz="1638" dirty="0"/>
          </a:p>
        </p:txBody>
      </p:sp>
      <p:sp>
        <p:nvSpPr>
          <p:cNvPr id="12" name="Shape 8"/>
          <p:cNvSpPr/>
          <p:nvPr/>
        </p:nvSpPr>
        <p:spPr>
          <a:xfrm>
            <a:off x="1968698" y="5814893"/>
            <a:ext cx="5242560" cy="1844635"/>
          </a:xfrm>
          <a:prstGeom prst="roundRect">
            <a:avLst>
              <a:gd name="adj" fmla="val 3383"/>
            </a:avLst>
          </a:prstGeom>
          <a:solidFill>
            <a:srgbClr val="223D4D"/>
          </a:solidFill>
          <a:ln/>
        </p:spPr>
      </p:sp>
      <p:sp>
        <p:nvSpPr>
          <p:cNvPr id="13" name="Text 9"/>
          <p:cNvSpPr/>
          <p:nvPr/>
        </p:nvSpPr>
        <p:spPr>
          <a:xfrm>
            <a:off x="2176582" y="6022777"/>
            <a:ext cx="3646646" cy="305753"/>
          </a:xfrm>
          <a:prstGeom prst="rect">
            <a:avLst/>
          </a:prstGeom>
          <a:noFill/>
          <a:ln/>
        </p:spPr>
        <p:txBody>
          <a:bodyPr wrap="none" rtlCol="0" anchor="t"/>
          <a:lstStyle/>
          <a:p>
            <a:pPr indent="0" marL="0">
              <a:lnSpc>
                <a:spcPts val="2408"/>
              </a:lnSpc>
              <a:buNone/>
            </a:pPr>
            <a:r>
              <a:rPr lang="en-US" sz="1927" dirty="0">
                <a:solidFill>
                  <a:srgbClr val="FFFFFF"/>
                </a:solidFill>
                <a:latin typeface="Unbounded" pitchFamily="34" charset="0"/>
                <a:ea typeface="Unbounded" pitchFamily="34" charset="-122"/>
                <a:cs typeface="Unbounded" pitchFamily="34" charset="-120"/>
              </a:rPr>
              <a:t>Booking and Reservation</a:t>
            </a:r>
            <a:endParaRPr lang="en-US" sz="1927" dirty="0"/>
          </a:p>
        </p:txBody>
      </p:sp>
      <p:sp>
        <p:nvSpPr>
          <p:cNvPr id="14" name="Text 10"/>
          <p:cNvSpPr/>
          <p:nvPr/>
        </p:nvSpPr>
        <p:spPr>
          <a:xfrm>
            <a:off x="2176582" y="6453307"/>
            <a:ext cx="4826794" cy="665559"/>
          </a:xfrm>
          <a:prstGeom prst="rect">
            <a:avLst/>
          </a:prstGeom>
          <a:noFill/>
          <a:ln/>
        </p:spPr>
        <p:txBody>
          <a:bodyPr wrap="square" rtlCol="0" anchor="t"/>
          <a:lstStyle/>
          <a:p>
            <a:pPr indent="0" marL="0">
              <a:lnSpc>
                <a:spcPts val="2620"/>
              </a:lnSpc>
              <a:buNone/>
            </a:pPr>
            <a:r>
              <a:rPr lang="en-US" sz="1638" dirty="0">
                <a:solidFill>
                  <a:srgbClr val="CAD6DE"/>
                </a:solidFill>
                <a:latin typeface="Cabin" pitchFamily="34" charset="0"/>
                <a:ea typeface="Cabin" pitchFamily="34" charset="-122"/>
                <a:cs typeface="Cabin" pitchFamily="34" charset="-120"/>
              </a:rPr>
              <a:t>Facilitates the booking process, including payment, ticket issuance, and reservation management.</a:t>
            </a:r>
            <a:endParaRPr lang="en-US" sz="1638" dirty="0"/>
          </a:p>
        </p:txBody>
      </p:sp>
      <p:sp>
        <p:nvSpPr>
          <p:cNvPr id="15" name="Shape 11"/>
          <p:cNvSpPr/>
          <p:nvPr/>
        </p:nvSpPr>
        <p:spPr>
          <a:xfrm>
            <a:off x="7419142" y="5814893"/>
            <a:ext cx="5242560" cy="1844635"/>
          </a:xfrm>
          <a:prstGeom prst="roundRect">
            <a:avLst>
              <a:gd name="adj" fmla="val 3383"/>
            </a:avLst>
          </a:prstGeom>
          <a:solidFill>
            <a:srgbClr val="223D4D"/>
          </a:solidFill>
          <a:ln/>
        </p:spPr>
      </p:sp>
      <p:sp>
        <p:nvSpPr>
          <p:cNvPr id="16" name="Text 12"/>
          <p:cNvSpPr/>
          <p:nvPr/>
        </p:nvSpPr>
        <p:spPr>
          <a:xfrm>
            <a:off x="7627025" y="6022777"/>
            <a:ext cx="3353276" cy="305753"/>
          </a:xfrm>
          <a:prstGeom prst="rect">
            <a:avLst/>
          </a:prstGeom>
          <a:noFill/>
          <a:ln/>
        </p:spPr>
        <p:txBody>
          <a:bodyPr wrap="none" rtlCol="0" anchor="t"/>
          <a:lstStyle/>
          <a:p>
            <a:pPr indent="0" marL="0">
              <a:lnSpc>
                <a:spcPts val="2408"/>
              </a:lnSpc>
              <a:buNone/>
            </a:pPr>
            <a:r>
              <a:rPr lang="en-US" sz="1927" dirty="0">
                <a:solidFill>
                  <a:srgbClr val="FFFFFF"/>
                </a:solidFill>
                <a:latin typeface="Unbounded" pitchFamily="34" charset="0"/>
                <a:ea typeface="Unbounded" pitchFamily="34" charset="-122"/>
                <a:cs typeface="Unbounded" pitchFamily="34" charset="-120"/>
              </a:rPr>
              <a:t>Passenger Information</a:t>
            </a:r>
            <a:endParaRPr lang="en-US" sz="1927" dirty="0"/>
          </a:p>
        </p:txBody>
      </p:sp>
      <p:sp>
        <p:nvSpPr>
          <p:cNvPr id="17" name="Text 13"/>
          <p:cNvSpPr/>
          <p:nvPr/>
        </p:nvSpPr>
        <p:spPr>
          <a:xfrm>
            <a:off x="7627025" y="6453307"/>
            <a:ext cx="4826794" cy="998339"/>
          </a:xfrm>
          <a:prstGeom prst="rect">
            <a:avLst/>
          </a:prstGeom>
          <a:noFill/>
          <a:ln/>
        </p:spPr>
        <p:txBody>
          <a:bodyPr wrap="square" rtlCol="0" anchor="t"/>
          <a:lstStyle/>
          <a:p>
            <a:pPr indent="0" marL="0">
              <a:lnSpc>
                <a:spcPts val="2620"/>
              </a:lnSpc>
              <a:buNone/>
            </a:pPr>
            <a:r>
              <a:rPr lang="en-US" sz="1638" dirty="0">
                <a:solidFill>
                  <a:srgbClr val="CAD6DE"/>
                </a:solidFill>
                <a:latin typeface="Cabin" pitchFamily="34" charset="0"/>
                <a:ea typeface="Cabin" pitchFamily="34" charset="-122"/>
                <a:cs typeface="Cabin" pitchFamily="34" charset="-120"/>
              </a:rPr>
              <a:t>Stores and manages passenger details, including contact information, frequent flyer programs, and special requests.</a:t>
            </a:r>
            <a:endParaRPr lang="en-US" sz="1638" dirty="0"/>
          </a:p>
        </p:txBody>
      </p:sp>
      <p:pic>
        <p:nvPicPr>
          <p:cNvPr id="18"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4" name="Text 1"/>
          <p:cNvSpPr/>
          <p:nvPr/>
        </p:nvSpPr>
        <p:spPr>
          <a:xfrm>
            <a:off x="968693" y="2039541"/>
            <a:ext cx="12680990" cy="726043"/>
          </a:xfrm>
          <a:prstGeom prst="rect">
            <a:avLst/>
          </a:prstGeom>
          <a:noFill/>
          <a:ln/>
        </p:spPr>
        <p:txBody>
          <a:bodyPr wrap="none" rtlCol="0" anchor="t"/>
          <a:lstStyle/>
          <a:p>
            <a:pPr indent="0" marL="0">
              <a:lnSpc>
                <a:spcPts val="5718"/>
              </a:lnSpc>
              <a:buNone/>
            </a:pPr>
            <a:r>
              <a:rPr lang="en-US" sz="4574" dirty="0">
                <a:solidFill>
                  <a:srgbClr val="FFFFFF"/>
                </a:solidFill>
                <a:latin typeface="Unbounded" pitchFamily="34" charset="0"/>
                <a:ea typeface="Unbounded" pitchFamily="34" charset="-122"/>
                <a:cs typeface="Unbounded" pitchFamily="34" charset="-120"/>
              </a:rPr>
              <a:t>Existing System with Disadvantages</a:t>
            </a:r>
            <a:endParaRPr lang="en-US" sz="4574" dirty="0"/>
          </a:p>
        </p:txBody>
      </p:sp>
      <p:sp>
        <p:nvSpPr>
          <p:cNvPr id="5" name="Text 2"/>
          <p:cNvSpPr/>
          <p:nvPr/>
        </p:nvSpPr>
        <p:spPr>
          <a:xfrm>
            <a:off x="968693" y="3382685"/>
            <a:ext cx="2904530" cy="363141"/>
          </a:xfrm>
          <a:prstGeom prst="rect">
            <a:avLst/>
          </a:prstGeom>
          <a:noFill/>
          <a:ln/>
        </p:spPr>
        <p:txBody>
          <a:bodyPr wrap="none" rtlCol="0" anchor="t"/>
          <a:lstStyle/>
          <a:p>
            <a:pPr indent="0" marL="0">
              <a:lnSpc>
                <a:spcPts val="2859"/>
              </a:lnSpc>
              <a:buNone/>
            </a:pPr>
            <a:r>
              <a:rPr lang="en-US" sz="2287" dirty="0">
                <a:solidFill>
                  <a:srgbClr val="FFFFFF"/>
                </a:solidFill>
                <a:latin typeface="Unbounded" pitchFamily="34" charset="0"/>
                <a:ea typeface="Unbounded" pitchFamily="34" charset="-122"/>
                <a:cs typeface="Unbounded" pitchFamily="34" charset="-120"/>
              </a:rPr>
              <a:t>Limitations</a:t>
            </a:r>
            <a:endParaRPr lang="en-US" sz="2287" dirty="0"/>
          </a:p>
        </p:txBody>
      </p:sp>
      <p:sp>
        <p:nvSpPr>
          <p:cNvPr id="6" name="Text 3"/>
          <p:cNvSpPr/>
          <p:nvPr/>
        </p:nvSpPr>
        <p:spPr>
          <a:xfrm>
            <a:off x="968693" y="3992642"/>
            <a:ext cx="3828931" cy="1975247"/>
          </a:xfrm>
          <a:prstGeom prst="rect">
            <a:avLst/>
          </a:prstGeom>
          <a:noFill/>
          <a:ln/>
        </p:spPr>
        <p:txBody>
          <a:bodyPr wrap="square" rtlCol="0" anchor="t"/>
          <a:lstStyle/>
          <a:p>
            <a:pPr indent="0" marL="0">
              <a:lnSpc>
                <a:spcPts val="3110"/>
              </a:lnSpc>
              <a:buNone/>
            </a:pPr>
            <a:r>
              <a:rPr lang="en-US" sz="1944" dirty="0">
                <a:solidFill>
                  <a:srgbClr val="CAD6DE"/>
                </a:solidFill>
                <a:latin typeface="Cabin" pitchFamily="34" charset="0"/>
                <a:ea typeface="Cabin" pitchFamily="34" charset="-122"/>
                <a:cs typeface="Cabin" pitchFamily="34" charset="-120"/>
              </a:rPr>
              <a:t>The existing system may lack advanced features, offer a suboptimal user experience, and struggle to keep up with evolving industry demands.</a:t>
            </a:r>
            <a:endParaRPr lang="en-US" sz="1944" dirty="0"/>
          </a:p>
        </p:txBody>
      </p:sp>
      <p:sp>
        <p:nvSpPr>
          <p:cNvPr id="7" name="Text 4"/>
          <p:cNvSpPr/>
          <p:nvPr/>
        </p:nvSpPr>
        <p:spPr>
          <a:xfrm>
            <a:off x="5407462" y="3382685"/>
            <a:ext cx="2904530" cy="363141"/>
          </a:xfrm>
          <a:prstGeom prst="rect">
            <a:avLst/>
          </a:prstGeom>
          <a:noFill/>
          <a:ln/>
        </p:spPr>
        <p:txBody>
          <a:bodyPr wrap="none" rtlCol="0" anchor="t"/>
          <a:lstStyle/>
          <a:p>
            <a:pPr indent="0" marL="0">
              <a:lnSpc>
                <a:spcPts val="2859"/>
              </a:lnSpc>
              <a:buNone/>
            </a:pPr>
            <a:r>
              <a:rPr lang="en-US" sz="2287" dirty="0">
                <a:solidFill>
                  <a:srgbClr val="FFFFFF"/>
                </a:solidFill>
                <a:latin typeface="Unbounded" pitchFamily="34" charset="0"/>
                <a:ea typeface="Unbounded" pitchFamily="34" charset="-122"/>
                <a:cs typeface="Unbounded" pitchFamily="34" charset="-120"/>
              </a:rPr>
              <a:t>Inefficiencies</a:t>
            </a:r>
            <a:endParaRPr lang="en-US" sz="2287" dirty="0"/>
          </a:p>
        </p:txBody>
      </p:sp>
      <p:sp>
        <p:nvSpPr>
          <p:cNvPr id="8" name="Text 5"/>
          <p:cNvSpPr/>
          <p:nvPr/>
        </p:nvSpPr>
        <p:spPr>
          <a:xfrm>
            <a:off x="5407462" y="3992642"/>
            <a:ext cx="3828931" cy="1975247"/>
          </a:xfrm>
          <a:prstGeom prst="rect">
            <a:avLst/>
          </a:prstGeom>
          <a:noFill/>
          <a:ln/>
        </p:spPr>
        <p:txBody>
          <a:bodyPr wrap="square" rtlCol="0" anchor="t"/>
          <a:lstStyle/>
          <a:p>
            <a:pPr indent="0" marL="0">
              <a:lnSpc>
                <a:spcPts val="3110"/>
              </a:lnSpc>
              <a:buNone/>
            </a:pPr>
            <a:r>
              <a:rPr lang="en-US" sz="1944" dirty="0">
                <a:solidFill>
                  <a:srgbClr val="CAD6DE"/>
                </a:solidFill>
                <a:latin typeface="Cabin" pitchFamily="34" charset="0"/>
                <a:ea typeface="Cabin" pitchFamily="34" charset="-122"/>
                <a:cs typeface="Cabin" pitchFamily="34" charset="-120"/>
              </a:rPr>
              <a:t>Manual processes, outdated technology, and inefficient data management can lead to delays, errors, and a frustrating customer experience.</a:t>
            </a:r>
            <a:endParaRPr lang="en-US" sz="1944" dirty="0"/>
          </a:p>
        </p:txBody>
      </p:sp>
      <p:sp>
        <p:nvSpPr>
          <p:cNvPr id="9" name="Text 6"/>
          <p:cNvSpPr/>
          <p:nvPr/>
        </p:nvSpPr>
        <p:spPr>
          <a:xfrm>
            <a:off x="9846231" y="3382685"/>
            <a:ext cx="3792260" cy="363141"/>
          </a:xfrm>
          <a:prstGeom prst="rect">
            <a:avLst/>
          </a:prstGeom>
          <a:noFill/>
          <a:ln/>
        </p:spPr>
        <p:txBody>
          <a:bodyPr wrap="none" rtlCol="0" anchor="t"/>
          <a:lstStyle/>
          <a:p>
            <a:pPr indent="0" marL="0">
              <a:lnSpc>
                <a:spcPts val="2859"/>
              </a:lnSpc>
              <a:buNone/>
            </a:pPr>
            <a:r>
              <a:rPr lang="en-US" sz="2287" dirty="0">
                <a:solidFill>
                  <a:srgbClr val="FFFFFF"/>
                </a:solidFill>
                <a:latin typeface="Unbounded" pitchFamily="34" charset="0"/>
                <a:ea typeface="Unbounded" pitchFamily="34" charset="-122"/>
                <a:cs typeface="Unbounded" pitchFamily="34" charset="-120"/>
              </a:rPr>
              <a:t>Scalability Challenges</a:t>
            </a:r>
            <a:endParaRPr lang="en-US" sz="2287" dirty="0"/>
          </a:p>
        </p:txBody>
      </p:sp>
      <p:sp>
        <p:nvSpPr>
          <p:cNvPr id="10" name="Text 7"/>
          <p:cNvSpPr/>
          <p:nvPr/>
        </p:nvSpPr>
        <p:spPr>
          <a:xfrm>
            <a:off x="9846231" y="3992642"/>
            <a:ext cx="3828931" cy="1580198"/>
          </a:xfrm>
          <a:prstGeom prst="rect">
            <a:avLst/>
          </a:prstGeom>
          <a:noFill/>
          <a:ln/>
        </p:spPr>
        <p:txBody>
          <a:bodyPr wrap="square" rtlCol="0" anchor="t"/>
          <a:lstStyle/>
          <a:p>
            <a:pPr indent="0" marL="0">
              <a:lnSpc>
                <a:spcPts val="3110"/>
              </a:lnSpc>
              <a:buNone/>
            </a:pPr>
            <a:r>
              <a:rPr lang="en-US" sz="1944" dirty="0">
                <a:solidFill>
                  <a:srgbClr val="CAD6DE"/>
                </a:solidFill>
                <a:latin typeface="Cabin" pitchFamily="34" charset="0"/>
                <a:ea typeface="Cabin" pitchFamily="34" charset="-122"/>
                <a:cs typeface="Cabin" pitchFamily="34" charset="-120"/>
              </a:rPr>
              <a:t>The current system may have difficulty accommodating growing passenger volumes, new routes, and changing industry dynamics.</a:t>
            </a:r>
            <a:endParaRPr lang="en-US" sz="1944" dirty="0"/>
          </a:p>
        </p:txBody>
      </p:sp>
      <p:pic>
        <p:nvPicPr>
          <p:cNvPr id="11"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31267"/>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0" y="0"/>
            <a:ext cx="5486400" cy="8231267"/>
          </a:xfrm>
          <a:prstGeom prst="rect">
            <a:avLst/>
          </a:prstGeom>
        </p:spPr>
      </p:pic>
      <p:pic>
        <p:nvPicPr>
          <p:cNvPr id="5" name="Image 2" descr="preencoded.png">    </p:cNvPr>
          <p:cNvPicPr>
            <a:picLocks noChangeAspect="1"/>
          </p:cNvPicPr>
          <p:nvPr/>
        </p:nvPicPr>
        <p:blipFill>
          <a:blip r:embed="rId3"/>
          <a:stretch>
            <a:fillRect/>
          </a:stretch>
        </p:blipFill>
        <p:spPr>
          <a:xfrm>
            <a:off x="248126" y="2712125"/>
            <a:ext cx="4990028" cy="2806898"/>
          </a:xfrm>
          <a:prstGeom prst="rect">
            <a:avLst/>
          </a:prstGeom>
        </p:spPr>
      </p:pic>
      <p:sp>
        <p:nvSpPr>
          <p:cNvPr id="6" name="Text 1"/>
          <p:cNvSpPr/>
          <p:nvPr/>
        </p:nvSpPr>
        <p:spPr>
          <a:xfrm>
            <a:off x="6181249" y="545902"/>
            <a:ext cx="7754303" cy="1168003"/>
          </a:xfrm>
          <a:prstGeom prst="rect">
            <a:avLst/>
          </a:prstGeom>
          <a:noFill/>
          <a:ln/>
        </p:spPr>
        <p:txBody>
          <a:bodyPr wrap="square" rtlCol="0" anchor="t"/>
          <a:lstStyle/>
          <a:p>
            <a:pPr indent="0" marL="0">
              <a:lnSpc>
                <a:spcPts val="4598"/>
              </a:lnSpc>
              <a:buNone/>
            </a:pPr>
            <a:r>
              <a:rPr lang="en-US" sz="3678" dirty="0">
                <a:solidFill>
                  <a:srgbClr val="FFFFFF"/>
                </a:solidFill>
                <a:latin typeface="Unbounded" pitchFamily="34" charset="0"/>
                <a:ea typeface="Unbounded" pitchFamily="34" charset="-122"/>
                <a:cs typeface="Unbounded" pitchFamily="34" charset="-120"/>
              </a:rPr>
              <a:t>Proposed System with Advantages</a:t>
            </a:r>
            <a:endParaRPr lang="en-US" sz="3678" dirty="0"/>
          </a:p>
        </p:txBody>
      </p:sp>
      <p:sp>
        <p:nvSpPr>
          <p:cNvPr id="7" name="Shape 2"/>
          <p:cNvSpPr/>
          <p:nvPr/>
        </p:nvSpPr>
        <p:spPr>
          <a:xfrm>
            <a:off x="6181249" y="2234922"/>
            <a:ext cx="446603" cy="446603"/>
          </a:xfrm>
          <a:prstGeom prst="roundRect">
            <a:avLst>
              <a:gd name="adj" fmla="val 13337"/>
            </a:avLst>
          </a:prstGeom>
          <a:solidFill>
            <a:srgbClr val="223D4D"/>
          </a:solidFill>
          <a:ln/>
        </p:spPr>
      </p:sp>
      <p:sp>
        <p:nvSpPr>
          <p:cNvPr id="8" name="Text 3"/>
          <p:cNvSpPr/>
          <p:nvPr/>
        </p:nvSpPr>
        <p:spPr>
          <a:xfrm>
            <a:off x="6338530" y="2318028"/>
            <a:ext cx="132040" cy="280273"/>
          </a:xfrm>
          <a:prstGeom prst="rect">
            <a:avLst/>
          </a:prstGeom>
          <a:noFill/>
          <a:ln/>
        </p:spPr>
        <p:txBody>
          <a:bodyPr wrap="none" rtlCol="0" anchor="t"/>
          <a:lstStyle/>
          <a:p>
            <a:pPr algn="ctr" indent="0" marL="0">
              <a:lnSpc>
                <a:spcPts val="2207"/>
              </a:lnSpc>
              <a:buNone/>
            </a:pPr>
            <a:r>
              <a:rPr lang="en-US" sz="2207" dirty="0">
                <a:solidFill>
                  <a:srgbClr val="FFFFFF"/>
                </a:solidFill>
                <a:latin typeface="Unbounded" pitchFamily="34" charset="0"/>
                <a:ea typeface="Unbounded" pitchFamily="34" charset="-122"/>
                <a:cs typeface="Unbounded" pitchFamily="34" charset="-120"/>
              </a:rPr>
              <a:t>1</a:t>
            </a:r>
            <a:endParaRPr lang="en-US" sz="2207" dirty="0"/>
          </a:p>
        </p:txBody>
      </p:sp>
      <p:sp>
        <p:nvSpPr>
          <p:cNvPr id="9" name="Text 4"/>
          <p:cNvSpPr/>
          <p:nvPr/>
        </p:nvSpPr>
        <p:spPr>
          <a:xfrm>
            <a:off x="6826329" y="2234922"/>
            <a:ext cx="3694152" cy="291941"/>
          </a:xfrm>
          <a:prstGeom prst="rect">
            <a:avLst/>
          </a:prstGeom>
          <a:noFill/>
          <a:ln/>
        </p:spPr>
        <p:txBody>
          <a:bodyPr wrap="none" rtlCol="0" anchor="t"/>
          <a:lstStyle/>
          <a:p>
            <a:pPr indent="0" marL="0">
              <a:lnSpc>
                <a:spcPts val="2299"/>
              </a:lnSpc>
              <a:buNone/>
            </a:pPr>
            <a:r>
              <a:rPr lang="en-US" sz="1839" dirty="0">
                <a:solidFill>
                  <a:srgbClr val="FFFFFF"/>
                </a:solidFill>
                <a:latin typeface="Unbounded" pitchFamily="34" charset="0"/>
                <a:ea typeface="Unbounded" pitchFamily="34" charset="-122"/>
                <a:cs typeface="Unbounded" pitchFamily="34" charset="-120"/>
              </a:rPr>
              <a:t>Enhanced User Experience</a:t>
            </a:r>
            <a:endParaRPr lang="en-US" sz="1839" dirty="0"/>
          </a:p>
        </p:txBody>
      </p:sp>
      <p:sp>
        <p:nvSpPr>
          <p:cNvPr id="10" name="Text 5"/>
          <p:cNvSpPr/>
          <p:nvPr/>
        </p:nvSpPr>
        <p:spPr>
          <a:xfrm>
            <a:off x="6826329" y="2645926"/>
            <a:ext cx="7109222" cy="635318"/>
          </a:xfrm>
          <a:prstGeom prst="rect">
            <a:avLst/>
          </a:prstGeom>
          <a:noFill/>
          <a:ln/>
        </p:spPr>
        <p:txBody>
          <a:bodyPr wrap="square" rtlCol="0" anchor="t"/>
          <a:lstStyle/>
          <a:p>
            <a:pPr indent="0" marL="0">
              <a:lnSpc>
                <a:spcPts val="2501"/>
              </a:lnSpc>
              <a:buNone/>
            </a:pPr>
            <a:r>
              <a:rPr lang="en-US" sz="1563" dirty="0">
                <a:solidFill>
                  <a:srgbClr val="CAD6DE"/>
                </a:solidFill>
                <a:latin typeface="Cabin" pitchFamily="34" charset="0"/>
                <a:ea typeface="Cabin" pitchFamily="34" charset="-122"/>
                <a:cs typeface="Cabin" pitchFamily="34" charset="-120"/>
              </a:rPr>
              <a:t>Intuitive, responsive, and mobile-friendly interface for seamless booking and management of travel plans.</a:t>
            </a:r>
            <a:endParaRPr lang="en-US" sz="1563" dirty="0"/>
          </a:p>
        </p:txBody>
      </p:sp>
      <p:sp>
        <p:nvSpPr>
          <p:cNvPr id="11" name="Shape 6"/>
          <p:cNvSpPr/>
          <p:nvPr/>
        </p:nvSpPr>
        <p:spPr>
          <a:xfrm>
            <a:off x="6181249" y="3702963"/>
            <a:ext cx="446603" cy="446603"/>
          </a:xfrm>
          <a:prstGeom prst="roundRect">
            <a:avLst>
              <a:gd name="adj" fmla="val 13337"/>
            </a:avLst>
          </a:prstGeom>
          <a:solidFill>
            <a:srgbClr val="223D4D"/>
          </a:solidFill>
          <a:ln/>
        </p:spPr>
      </p:sp>
      <p:sp>
        <p:nvSpPr>
          <p:cNvPr id="12" name="Text 7"/>
          <p:cNvSpPr/>
          <p:nvPr/>
        </p:nvSpPr>
        <p:spPr>
          <a:xfrm>
            <a:off x="6294001" y="3786068"/>
            <a:ext cx="221099" cy="280273"/>
          </a:xfrm>
          <a:prstGeom prst="rect">
            <a:avLst/>
          </a:prstGeom>
          <a:noFill/>
          <a:ln/>
        </p:spPr>
        <p:txBody>
          <a:bodyPr wrap="none" rtlCol="0" anchor="t"/>
          <a:lstStyle/>
          <a:p>
            <a:pPr algn="ctr" indent="0" marL="0">
              <a:lnSpc>
                <a:spcPts val="2207"/>
              </a:lnSpc>
              <a:buNone/>
            </a:pPr>
            <a:r>
              <a:rPr lang="en-US" sz="2207" dirty="0">
                <a:solidFill>
                  <a:srgbClr val="FFFFFF"/>
                </a:solidFill>
                <a:latin typeface="Unbounded" pitchFamily="34" charset="0"/>
                <a:ea typeface="Unbounded" pitchFamily="34" charset="-122"/>
                <a:cs typeface="Unbounded" pitchFamily="34" charset="-120"/>
              </a:rPr>
              <a:t>2</a:t>
            </a:r>
            <a:endParaRPr lang="en-US" sz="2207" dirty="0"/>
          </a:p>
        </p:txBody>
      </p:sp>
      <p:sp>
        <p:nvSpPr>
          <p:cNvPr id="13" name="Text 8"/>
          <p:cNvSpPr/>
          <p:nvPr/>
        </p:nvSpPr>
        <p:spPr>
          <a:xfrm>
            <a:off x="6826329" y="3702963"/>
            <a:ext cx="2768679" cy="291941"/>
          </a:xfrm>
          <a:prstGeom prst="rect">
            <a:avLst/>
          </a:prstGeom>
          <a:noFill/>
          <a:ln/>
        </p:spPr>
        <p:txBody>
          <a:bodyPr wrap="none" rtlCol="0" anchor="t"/>
          <a:lstStyle/>
          <a:p>
            <a:pPr indent="0" marL="0">
              <a:lnSpc>
                <a:spcPts val="2299"/>
              </a:lnSpc>
              <a:buNone/>
            </a:pPr>
            <a:r>
              <a:rPr lang="en-US" sz="1839" dirty="0">
                <a:solidFill>
                  <a:srgbClr val="FFFFFF"/>
                </a:solidFill>
                <a:latin typeface="Unbounded" pitchFamily="34" charset="0"/>
                <a:ea typeface="Unbounded" pitchFamily="34" charset="-122"/>
                <a:cs typeface="Unbounded" pitchFamily="34" charset="-120"/>
              </a:rPr>
              <a:t>Improved Efficiency</a:t>
            </a:r>
            <a:endParaRPr lang="en-US" sz="1839" dirty="0"/>
          </a:p>
        </p:txBody>
      </p:sp>
      <p:sp>
        <p:nvSpPr>
          <p:cNvPr id="14" name="Text 9"/>
          <p:cNvSpPr/>
          <p:nvPr/>
        </p:nvSpPr>
        <p:spPr>
          <a:xfrm>
            <a:off x="6826329" y="4113967"/>
            <a:ext cx="7109222" cy="635318"/>
          </a:xfrm>
          <a:prstGeom prst="rect">
            <a:avLst/>
          </a:prstGeom>
          <a:noFill/>
          <a:ln/>
        </p:spPr>
        <p:txBody>
          <a:bodyPr wrap="square" rtlCol="0" anchor="t"/>
          <a:lstStyle/>
          <a:p>
            <a:pPr indent="0" marL="0">
              <a:lnSpc>
                <a:spcPts val="2501"/>
              </a:lnSpc>
              <a:buNone/>
            </a:pPr>
            <a:r>
              <a:rPr lang="en-US" sz="1563" dirty="0">
                <a:solidFill>
                  <a:srgbClr val="CAD6DE"/>
                </a:solidFill>
                <a:latin typeface="Cabin" pitchFamily="34" charset="0"/>
                <a:ea typeface="Cabin" pitchFamily="34" charset="-122"/>
                <a:cs typeface="Cabin" pitchFamily="34" charset="-120"/>
              </a:rPr>
              <a:t>Automated processes, real-time data integration, and intelligent decision-making to streamline operations.</a:t>
            </a:r>
            <a:endParaRPr lang="en-US" sz="1563" dirty="0"/>
          </a:p>
        </p:txBody>
      </p:sp>
      <p:sp>
        <p:nvSpPr>
          <p:cNvPr id="15" name="Shape 10"/>
          <p:cNvSpPr/>
          <p:nvPr/>
        </p:nvSpPr>
        <p:spPr>
          <a:xfrm>
            <a:off x="6181249" y="5171003"/>
            <a:ext cx="446603" cy="446603"/>
          </a:xfrm>
          <a:prstGeom prst="roundRect">
            <a:avLst>
              <a:gd name="adj" fmla="val 13337"/>
            </a:avLst>
          </a:prstGeom>
          <a:solidFill>
            <a:srgbClr val="223D4D"/>
          </a:solidFill>
          <a:ln/>
        </p:spPr>
      </p:sp>
      <p:sp>
        <p:nvSpPr>
          <p:cNvPr id="16" name="Text 11"/>
          <p:cNvSpPr/>
          <p:nvPr/>
        </p:nvSpPr>
        <p:spPr>
          <a:xfrm>
            <a:off x="6291858" y="5254109"/>
            <a:ext cx="225266" cy="280273"/>
          </a:xfrm>
          <a:prstGeom prst="rect">
            <a:avLst/>
          </a:prstGeom>
          <a:noFill/>
          <a:ln/>
        </p:spPr>
        <p:txBody>
          <a:bodyPr wrap="none" rtlCol="0" anchor="t"/>
          <a:lstStyle/>
          <a:p>
            <a:pPr algn="ctr" indent="0" marL="0">
              <a:lnSpc>
                <a:spcPts val="2207"/>
              </a:lnSpc>
              <a:buNone/>
            </a:pPr>
            <a:r>
              <a:rPr lang="en-US" sz="2207" dirty="0">
                <a:solidFill>
                  <a:srgbClr val="FFFFFF"/>
                </a:solidFill>
                <a:latin typeface="Unbounded" pitchFamily="34" charset="0"/>
                <a:ea typeface="Unbounded" pitchFamily="34" charset="-122"/>
                <a:cs typeface="Unbounded" pitchFamily="34" charset="-120"/>
              </a:rPr>
              <a:t>3</a:t>
            </a:r>
            <a:endParaRPr lang="en-US" sz="2207" dirty="0"/>
          </a:p>
        </p:txBody>
      </p:sp>
      <p:sp>
        <p:nvSpPr>
          <p:cNvPr id="17" name="Text 12"/>
          <p:cNvSpPr/>
          <p:nvPr/>
        </p:nvSpPr>
        <p:spPr>
          <a:xfrm>
            <a:off x="6826329" y="5171003"/>
            <a:ext cx="3385780" cy="291941"/>
          </a:xfrm>
          <a:prstGeom prst="rect">
            <a:avLst/>
          </a:prstGeom>
          <a:noFill/>
          <a:ln/>
        </p:spPr>
        <p:txBody>
          <a:bodyPr wrap="none" rtlCol="0" anchor="t"/>
          <a:lstStyle/>
          <a:p>
            <a:pPr indent="0" marL="0">
              <a:lnSpc>
                <a:spcPts val="2299"/>
              </a:lnSpc>
              <a:buNone/>
            </a:pPr>
            <a:r>
              <a:rPr lang="en-US" sz="1839" dirty="0">
                <a:solidFill>
                  <a:srgbClr val="FFFFFF"/>
                </a:solidFill>
                <a:latin typeface="Unbounded" pitchFamily="34" charset="0"/>
                <a:ea typeface="Unbounded" pitchFamily="34" charset="-122"/>
                <a:cs typeface="Unbounded" pitchFamily="34" charset="-120"/>
              </a:rPr>
              <a:t>Scalability and Flexibility</a:t>
            </a:r>
            <a:endParaRPr lang="en-US" sz="1839" dirty="0"/>
          </a:p>
        </p:txBody>
      </p:sp>
      <p:sp>
        <p:nvSpPr>
          <p:cNvPr id="18" name="Text 13"/>
          <p:cNvSpPr/>
          <p:nvPr/>
        </p:nvSpPr>
        <p:spPr>
          <a:xfrm>
            <a:off x="6826329" y="5582007"/>
            <a:ext cx="7109222" cy="635318"/>
          </a:xfrm>
          <a:prstGeom prst="rect">
            <a:avLst/>
          </a:prstGeom>
          <a:noFill/>
          <a:ln/>
        </p:spPr>
        <p:txBody>
          <a:bodyPr wrap="square" rtlCol="0" anchor="t"/>
          <a:lstStyle/>
          <a:p>
            <a:pPr indent="0" marL="0">
              <a:lnSpc>
                <a:spcPts val="2501"/>
              </a:lnSpc>
              <a:buNone/>
            </a:pPr>
            <a:r>
              <a:rPr lang="en-US" sz="1563" dirty="0">
                <a:solidFill>
                  <a:srgbClr val="CAD6DE"/>
                </a:solidFill>
                <a:latin typeface="Cabin" pitchFamily="34" charset="0"/>
                <a:ea typeface="Cabin" pitchFamily="34" charset="-122"/>
                <a:cs typeface="Cabin" pitchFamily="34" charset="-120"/>
              </a:rPr>
              <a:t>Ability to accommodate increasing passenger volumes, new routes, and evolving industry requirements.</a:t>
            </a:r>
            <a:endParaRPr lang="en-US" sz="1563" dirty="0"/>
          </a:p>
        </p:txBody>
      </p:sp>
      <p:sp>
        <p:nvSpPr>
          <p:cNvPr id="19" name="Shape 14"/>
          <p:cNvSpPr/>
          <p:nvPr/>
        </p:nvSpPr>
        <p:spPr>
          <a:xfrm>
            <a:off x="6181249" y="6639044"/>
            <a:ext cx="446603" cy="446603"/>
          </a:xfrm>
          <a:prstGeom prst="roundRect">
            <a:avLst>
              <a:gd name="adj" fmla="val 13337"/>
            </a:avLst>
          </a:prstGeom>
          <a:solidFill>
            <a:srgbClr val="223D4D"/>
          </a:solidFill>
          <a:ln/>
        </p:spPr>
      </p:sp>
      <p:sp>
        <p:nvSpPr>
          <p:cNvPr id="20" name="Text 15"/>
          <p:cNvSpPr/>
          <p:nvPr/>
        </p:nvSpPr>
        <p:spPr>
          <a:xfrm>
            <a:off x="6291977" y="6722150"/>
            <a:ext cx="225028" cy="280273"/>
          </a:xfrm>
          <a:prstGeom prst="rect">
            <a:avLst/>
          </a:prstGeom>
          <a:noFill/>
          <a:ln/>
        </p:spPr>
        <p:txBody>
          <a:bodyPr wrap="none" rtlCol="0" anchor="t"/>
          <a:lstStyle/>
          <a:p>
            <a:pPr algn="ctr" indent="0" marL="0">
              <a:lnSpc>
                <a:spcPts val="2207"/>
              </a:lnSpc>
              <a:buNone/>
            </a:pPr>
            <a:r>
              <a:rPr lang="en-US" sz="2207" dirty="0">
                <a:solidFill>
                  <a:srgbClr val="FFFFFF"/>
                </a:solidFill>
                <a:latin typeface="Unbounded" pitchFamily="34" charset="0"/>
                <a:ea typeface="Unbounded" pitchFamily="34" charset="-122"/>
                <a:cs typeface="Unbounded" pitchFamily="34" charset="-120"/>
              </a:rPr>
              <a:t>4</a:t>
            </a:r>
            <a:endParaRPr lang="en-US" sz="2207" dirty="0"/>
          </a:p>
        </p:txBody>
      </p:sp>
      <p:sp>
        <p:nvSpPr>
          <p:cNvPr id="21" name="Text 16"/>
          <p:cNvSpPr/>
          <p:nvPr/>
        </p:nvSpPr>
        <p:spPr>
          <a:xfrm>
            <a:off x="6826329" y="6639044"/>
            <a:ext cx="3037880" cy="291941"/>
          </a:xfrm>
          <a:prstGeom prst="rect">
            <a:avLst/>
          </a:prstGeom>
          <a:noFill/>
          <a:ln/>
        </p:spPr>
        <p:txBody>
          <a:bodyPr wrap="none" rtlCol="0" anchor="t"/>
          <a:lstStyle/>
          <a:p>
            <a:pPr indent="0" marL="0">
              <a:lnSpc>
                <a:spcPts val="2299"/>
              </a:lnSpc>
              <a:buNone/>
            </a:pPr>
            <a:r>
              <a:rPr lang="en-US" sz="1839" dirty="0">
                <a:solidFill>
                  <a:srgbClr val="FFFFFF"/>
                </a:solidFill>
                <a:latin typeface="Unbounded" pitchFamily="34" charset="0"/>
                <a:ea typeface="Unbounded" pitchFamily="34" charset="-122"/>
                <a:cs typeface="Unbounded" pitchFamily="34" charset="-120"/>
              </a:rPr>
              <a:t>Personalized Services</a:t>
            </a:r>
            <a:endParaRPr lang="en-US" sz="1839" dirty="0"/>
          </a:p>
        </p:txBody>
      </p:sp>
      <p:sp>
        <p:nvSpPr>
          <p:cNvPr id="22" name="Text 17"/>
          <p:cNvSpPr/>
          <p:nvPr/>
        </p:nvSpPr>
        <p:spPr>
          <a:xfrm>
            <a:off x="6826329" y="7050048"/>
            <a:ext cx="7109222" cy="635318"/>
          </a:xfrm>
          <a:prstGeom prst="rect">
            <a:avLst/>
          </a:prstGeom>
          <a:noFill/>
          <a:ln/>
        </p:spPr>
        <p:txBody>
          <a:bodyPr wrap="square" rtlCol="0" anchor="t"/>
          <a:lstStyle/>
          <a:p>
            <a:pPr indent="0" marL="0">
              <a:lnSpc>
                <a:spcPts val="2501"/>
              </a:lnSpc>
              <a:buNone/>
            </a:pPr>
            <a:r>
              <a:rPr lang="en-US" sz="1563" dirty="0">
                <a:solidFill>
                  <a:srgbClr val="CAD6DE"/>
                </a:solidFill>
                <a:latin typeface="Cabin" pitchFamily="34" charset="0"/>
                <a:ea typeface="Cabin" pitchFamily="34" charset="-122"/>
                <a:cs typeface="Cabin" pitchFamily="34" charset="-120"/>
              </a:rPr>
              <a:t>Tailored recommendations, loyalty program integration, and dynamic pricing to enhance customer loyalty.</a:t>
            </a:r>
            <a:endParaRPr lang="en-US" sz="1563" dirty="0"/>
          </a:p>
        </p:txBody>
      </p:sp>
      <p:pic>
        <p:nvPicPr>
          <p:cNvPr id="23" name="Image 3" descr="preencoded.png">
            <a:hlinkClick r:id="rId5" tooltip=""/>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4" name="Text 1"/>
          <p:cNvSpPr/>
          <p:nvPr/>
        </p:nvSpPr>
        <p:spPr>
          <a:xfrm>
            <a:off x="968693" y="2237065"/>
            <a:ext cx="7471886" cy="726043"/>
          </a:xfrm>
          <a:prstGeom prst="rect">
            <a:avLst/>
          </a:prstGeom>
          <a:noFill/>
          <a:ln/>
        </p:spPr>
        <p:txBody>
          <a:bodyPr wrap="none" rtlCol="0" anchor="t"/>
          <a:lstStyle/>
          <a:p>
            <a:pPr indent="0" marL="0">
              <a:lnSpc>
                <a:spcPts val="5718"/>
              </a:lnSpc>
              <a:buNone/>
            </a:pPr>
            <a:r>
              <a:rPr lang="en-US" sz="4574" dirty="0">
                <a:solidFill>
                  <a:srgbClr val="FFFFFF"/>
                </a:solidFill>
                <a:latin typeface="Unbounded" pitchFamily="34" charset="0"/>
                <a:ea typeface="Unbounded" pitchFamily="34" charset="-122"/>
                <a:cs typeface="Unbounded" pitchFamily="34" charset="-120"/>
              </a:rPr>
              <a:t>User Interface Design</a:t>
            </a:r>
            <a:endParaRPr lang="en-US" sz="4574" dirty="0"/>
          </a:p>
        </p:txBody>
      </p:sp>
      <p:sp>
        <p:nvSpPr>
          <p:cNvPr id="5" name="Text 2"/>
          <p:cNvSpPr/>
          <p:nvPr/>
        </p:nvSpPr>
        <p:spPr>
          <a:xfrm>
            <a:off x="968693" y="3580209"/>
            <a:ext cx="2904530" cy="363141"/>
          </a:xfrm>
          <a:prstGeom prst="rect">
            <a:avLst/>
          </a:prstGeom>
          <a:noFill/>
          <a:ln/>
        </p:spPr>
        <p:txBody>
          <a:bodyPr wrap="none" rtlCol="0" anchor="t"/>
          <a:lstStyle/>
          <a:p>
            <a:pPr indent="0" marL="0">
              <a:lnSpc>
                <a:spcPts val="2859"/>
              </a:lnSpc>
              <a:buNone/>
            </a:pPr>
            <a:r>
              <a:rPr lang="en-US" sz="2287" dirty="0">
                <a:solidFill>
                  <a:srgbClr val="FFFFFF"/>
                </a:solidFill>
                <a:latin typeface="Unbounded" pitchFamily="34" charset="0"/>
                <a:ea typeface="Unbounded" pitchFamily="34" charset="-122"/>
                <a:cs typeface="Unbounded" pitchFamily="34" charset="-120"/>
              </a:rPr>
              <a:t>Intuitive Layout</a:t>
            </a:r>
            <a:endParaRPr lang="en-US" sz="2287" dirty="0"/>
          </a:p>
        </p:txBody>
      </p:sp>
      <p:sp>
        <p:nvSpPr>
          <p:cNvPr id="6" name="Text 3"/>
          <p:cNvSpPr/>
          <p:nvPr/>
        </p:nvSpPr>
        <p:spPr>
          <a:xfrm>
            <a:off x="968693" y="4190167"/>
            <a:ext cx="3828931" cy="1185148"/>
          </a:xfrm>
          <a:prstGeom prst="rect">
            <a:avLst/>
          </a:prstGeom>
          <a:noFill/>
          <a:ln/>
        </p:spPr>
        <p:txBody>
          <a:bodyPr wrap="square" rtlCol="0" anchor="t"/>
          <a:lstStyle/>
          <a:p>
            <a:pPr indent="0" marL="0">
              <a:lnSpc>
                <a:spcPts val="3110"/>
              </a:lnSpc>
              <a:buNone/>
            </a:pPr>
            <a:r>
              <a:rPr lang="en-US" sz="1944" dirty="0">
                <a:solidFill>
                  <a:srgbClr val="CAD6DE"/>
                </a:solidFill>
                <a:latin typeface="Cabin" pitchFamily="34" charset="0"/>
                <a:ea typeface="Cabin" pitchFamily="34" charset="-122"/>
                <a:cs typeface="Cabin" pitchFamily="34" charset="-120"/>
              </a:rPr>
              <a:t>Clear organization of search, booking, and management functions for seamless user navigation.</a:t>
            </a:r>
            <a:endParaRPr lang="en-US" sz="1944" dirty="0"/>
          </a:p>
        </p:txBody>
      </p:sp>
      <p:sp>
        <p:nvSpPr>
          <p:cNvPr id="7" name="Text 4"/>
          <p:cNvSpPr/>
          <p:nvPr/>
        </p:nvSpPr>
        <p:spPr>
          <a:xfrm>
            <a:off x="5407462" y="3580209"/>
            <a:ext cx="3248144" cy="363141"/>
          </a:xfrm>
          <a:prstGeom prst="rect">
            <a:avLst/>
          </a:prstGeom>
          <a:noFill/>
          <a:ln/>
        </p:spPr>
        <p:txBody>
          <a:bodyPr wrap="none" rtlCol="0" anchor="t"/>
          <a:lstStyle/>
          <a:p>
            <a:pPr indent="0" marL="0">
              <a:lnSpc>
                <a:spcPts val="2859"/>
              </a:lnSpc>
              <a:buNone/>
            </a:pPr>
            <a:r>
              <a:rPr lang="en-US" sz="2287" dirty="0">
                <a:solidFill>
                  <a:srgbClr val="FFFFFF"/>
                </a:solidFill>
                <a:latin typeface="Unbounded" pitchFamily="34" charset="0"/>
                <a:ea typeface="Unbounded" pitchFamily="34" charset="-122"/>
                <a:cs typeface="Unbounded" pitchFamily="34" charset="-120"/>
              </a:rPr>
              <a:t>Responsive Design</a:t>
            </a:r>
            <a:endParaRPr lang="en-US" sz="2287" dirty="0"/>
          </a:p>
        </p:txBody>
      </p:sp>
      <p:sp>
        <p:nvSpPr>
          <p:cNvPr id="8" name="Text 5"/>
          <p:cNvSpPr/>
          <p:nvPr/>
        </p:nvSpPr>
        <p:spPr>
          <a:xfrm>
            <a:off x="5407462" y="4190167"/>
            <a:ext cx="3828931" cy="1580198"/>
          </a:xfrm>
          <a:prstGeom prst="rect">
            <a:avLst/>
          </a:prstGeom>
          <a:noFill/>
          <a:ln/>
        </p:spPr>
        <p:txBody>
          <a:bodyPr wrap="square" rtlCol="0" anchor="t"/>
          <a:lstStyle/>
          <a:p>
            <a:pPr indent="0" marL="0">
              <a:lnSpc>
                <a:spcPts val="3110"/>
              </a:lnSpc>
              <a:buNone/>
            </a:pPr>
            <a:r>
              <a:rPr lang="en-US" sz="1944" dirty="0">
                <a:solidFill>
                  <a:srgbClr val="CAD6DE"/>
                </a:solidFill>
                <a:latin typeface="Cabin" pitchFamily="34" charset="0"/>
                <a:ea typeface="Cabin" pitchFamily="34" charset="-122"/>
                <a:cs typeface="Cabin" pitchFamily="34" charset="-120"/>
              </a:rPr>
              <a:t>Optimized for desktops, tablets, and mobile devices to provide a consistent experience across platforms.</a:t>
            </a:r>
            <a:endParaRPr lang="en-US" sz="1944" dirty="0"/>
          </a:p>
        </p:txBody>
      </p:sp>
      <p:sp>
        <p:nvSpPr>
          <p:cNvPr id="9" name="Text 6"/>
          <p:cNvSpPr/>
          <p:nvPr/>
        </p:nvSpPr>
        <p:spPr>
          <a:xfrm>
            <a:off x="9846231" y="3580209"/>
            <a:ext cx="3828931" cy="726281"/>
          </a:xfrm>
          <a:prstGeom prst="rect">
            <a:avLst/>
          </a:prstGeom>
          <a:noFill/>
          <a:ln/>
        </p:spPr>
        <p:txBody>
          <a:bodyPr wrap="square" rtlCol="0" anchor="t"/>
          <a:lstStyle/>
          <a:p>
            <a:pPr indent="0" marL="0">
              <a:lnSpc>
                <a:spcPts val="2859"/>
              </a:lnSpc>
              <a:buNone/>
            </a:pPr>
            <a:r>
              <a:rPr lang="en-US" sz="2287" dirty="0">
                <a:solidFill>
                  <a:srgbClr val="FFFFFF"/>
                </a:solidFill>
                <a:latin typeface="Unbounded" pitchFamily="34" charset="0"/>
                <a:ea typeface="Unbounded" pitchFamily="34" charset="-122"/>
                <a:cs typeface="Unbounded" pitchFamily="34" charset="-120"/>
              </a:rPr>
              <a:t>Personalization Options</a:t>
            </a:r>
            <a:endParaRPr lang="en-US" sz="2287" dirty="0"/>
          </a:p>
        </p:txBody>
      </p:sp>
      <p:sp>
        <p:nvSpPr>
          <p:cNvPr id="10" name="Text 7"/>
          <p:cNvSpPr/>
          <p:nvPr/>
        </p:nvSpPr>
        <p:spPr>
          <a:xfrm>
            <a:off x="9846231" y="4553307"/>
            <a:ext cx="3828931" cy="1185148"/>
          </a:xfrm>
          <a:prstGeom prst="rect">
            <a:avLst/>
          </a:prstGeom>
          <a:noFill/>
          <a:ln/>
        </p:spPr>
        <p:txBody>
          <a:bodyPr wrap="square" rtlCol="0" anchor="t"/>
          <a:lstStyle/>
          <a:p>
            <a:pPr indent="0" marL="0">
              <a:lnSpc>
                <a:spcPts val="3110"/>
              </a:lnSpc>
              <a:buNone/>
            </a:pPr>
            <a:r>
              <a:rPr lang="en-US" sz="1944" dirty="0">
                <a:solidFill>
                  <a:srgbClr val="CAD6DE"/>
                </a:solidFill>
                <a:latin typeface="Cabin" pitchFamily="34" charset="0"/>
                <a:ea typeface="Cabin" pitchFamily="34" charset="-122"/>
                <a:cs typeface="Cabin" pitchFamily="34" charset="-120"/>
              </a:rPr>
              <a:t>Customizable user preferences, saved searches, and access to past booking history for convenience.</a:t>
            </a:r>
            <a:endParaRPr lang="en-US" sz="1944" dirty="0"/>
          </a:p>
        </p:txBody>
      </p:sp>
      <p:pic>
        <p:nvPicPr>
          <p:cNvPr id="11"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pic>
        <p:nvPicPr>
          <p:cNvPr id="5" name="Image 2" descr="preencoded.png">    </p:cNvPr>
          <p:cNvPicPr>
            <a:picLocks noChangeAspect="1"/>
          </p:cNvPicPr>
          <p:nvPr/>
        </p:nvPicPr>
        <p:blipFill>
          <a:blip r:embed="rId3"/>
          <a:stretch>
            <a:fillRect/>
          </a:stretch>
        </p:blipFill>
        <p:spPr>
          <a:xfrm>
            <a:off x="247888" y="2243257"/>
            <a:ext cx="4990624" cy="3742968"/>
          </a:xfrm>
          <a:prstGeom prst="rect">
            <a:avLst/>
          </a:prstGeom>
        </p:spPr>
      </p:pic>
      <p:sp>
        <p:nvSpPr>
          <p:cNvPr id="6" name="Text 1"/>
          <p:cNvSpPr/>
          <p:nvPr/>
        </p:nvSpPr>
        <p:spPr>
          <a:xfrm>
            <a:off x="6180773" y="1312902"/>
            <a:ext cx="6709172" cy="583525"/>
          </a:xfrm>
          <a:prstGeom prst="rect">
            <a:avLst/>
          </a:prstGeom>
          <a:noFill/>
          <a:ln/>
        </p:spPr>
        <p:txBody>
          <a:bodyPr wrap="none" rtlCol="0" anchor="t"/>
          <a:lstStyle/>
          <a:p>
            <a:pPr indent="0" marL="0">
              <a:lnSpc>
                <a:spcPts val="4595"/>
              </a:lnSpc>
              <a:buNone/>
            </a:pPr>
            <a:r>
              <a:rPr lang="en-US" sz="3676" dirty="0">
                <a:solidFill>
                  <a:srgbClr val="FFFFFF"/>
                </a:solidFill>
                <a:latin typeface="Unbounded" pitchFamily="34" charset="0"/>
                <a:ea typeface="Unbounded" pitchFamily="34" charset="-122"/>
                <a:cs typeface="Unbounded" pitchFamily="34" charset="-120"/>
              </a:rPr>
              <a:t>Database Management</a:t>
            </a:r>
            <a:endParaRPr lang="en-US" sz="3676" dirty="0"/>
          </a:p>
        </p:txBody>
      </p:sp>
      <p:sp>
        <p:nvSpPr>
          <p:cNvPr id="7" name="Shape 2"/>
          <p:cNvSpPr/>
          <p:nvPr/>
        </p:nvSpPr>
        <p:spPr>
          <a:xfrm>
            <a:off x="6465927" y="2193965"/>
            <a:ext cx="24765" cy="4722614"/>
          </a:xfrm>
          <a:prstGeom prst="rect">
            <a:avLst/>
          </a:prstGeom>
          <a:solidFill>
            <a:srgbClr val="0A988B"/>
          </a:solidFill>
          <a:ln/>
        </p:spPr>
      </p:sp>
      <p:sp>
        <p:nvSpPr>
          <p:cNvPr id="8" name="Shape 3"/>
          <p:cNvSpPr/>
          <p:nvPr/>
        </p:nvSpPr>
        <p:spPr>
          <a:xfrm>
            <a:off x="6701492" y="2627828"/>
            <a:ext cx="694373" cy="24765"/>
          </a:xfrm>
          <a:prstGeom prst="rect">
            <a:avLst/>
          </a:prstGeom>
          <a:solidFill>
            <a:srgbClr val="0A988B"/>
          </a:solidFill>
          <a:ln/>
        </p:spPr>
      </p:sp>
      <p:sp>
        <p:nvSpPr>
          <p:cNvPr id="9" name="Shape 4"/>
          <p:cNvSpPr/>
          <p:nvPr/>
        </p:nvSpPr>
        <p:spPr>
          <a:xfrm>
            <a:off x="6255127" y="2417088"/>
            <a:ext cx="446365" cy="446365"/>
          </a:xfrm>
          <a:prstGeom prst="roundRect">
            <a:avLst>
              <a:gd name="adj" fmla="val 13334"/>
            </a:avLst>
          </a:prstGeom>
          <a:solidFill>
            <a:srgbClr val="223D4D"/>
          </a:solidFill>
          <a:ln/>
        </p:spPr>
      </p:sp>
      <p:sp>
        <p:nvSpPr>
          <p:cNvPr id="10" name="Text 5"/>
          <p:cNvSpPr/>
          <p:nvPr/>
        </p:nvSpPr>
        <p:spPr>
          <a:xfrm>
            <a:off x="6412290" y="2500193"/>
            <a:ext cx="131921" cy="280035"/>
          </a:xfrm>
          <a:prstGeom prst="rect">
            <a:avLst/>
          </a:prstGeom>
          <a:noFill/>
          <a:ln/>
        </p:spPr>
        <p:txBody>
          <a:bodyPr wrap="none" rtlCol="0" anchor="t"/>
          <a:lstStyle/>
          <a:p>
            <a:pPr algn="ctr" indent="0" marL="0">
              <a:lnSpc>
                <a:spcPts val="2205"/>
              </a:lnSpc>
              <a:buNone/>
            </a:pPr>
            <a:r>
              <a:rPr lang="en-US" sz="2205" dirty="0">
                <a:solidFill>
                  <a:srgbClr val="FFFFFF"/>
                </a:solidFill>
                <a:latin typeface="Unbounded" pitchFamily="34" charset="0"/>
                <a:ea typeface="Unbounded" pitchFamily="34" charset="-122"/>
                <a:cs typeface="Unbounded" pitchFamily="34" charset="-120"/>
              </a:rPr>
              <a:t>1</a:t>
            </a:r>
            <a:endParaRPr lang="en-US" sz="2205" dirty="0"/>
          </a:p>
        </p:txBody>
      </p:sp>
      <p:sp>
        <p:nvSpPr>
          <p:cNvPr id="11" name="Text 6"/>
          <p:cNvSpPr/>
          <p:nvPr/>
        </p:nvSpPr>
        <p:spPr>
          <a:xfrm>
            <a:off x="7569398" y="2392323"/>
            <a:ext cx="2740938" cy="291703"/>
          </a:xfrm>
          <a:prstGeom prst="rect">
            <a:avLst/>
          </a:prstGeom>
          <a:noFill/>
          <a:ln/>
        </p:spPr>
        <p:txBody>
          <a:bodyPr wrap="none" rtlCol="0" anchor="t"/>
          <a:lstStyle/>
          <a:p>
            <a:pPr algn="l" indent="0" marL="0">
              <a:lnSpc>
                <a:spcPts val="2297"/>
              </a:lnSpc>
              <a:buNone/>
            </a:pPr>
            <a:r>
              <a:rPr lang="en-US" sz="1838" dirty="0">
                <a:solidFill>
                  <a:srgbClr val="FFFFFF"/>
                </a:solidFill>
                <a:latin typeface="Unbounded" pitchFamily="34" charset="0"/>
                <a:ea typeface="Unbounded" pitchFamily="34" charset="-122"/>
                <a:cs typeface="Unbounded" pitchFamily="34" charset="-120"/>
              </a:rPr>
              <a:t>Data Centralization</a:t>
            </a:r>
            <a:endParaRPr lang="en-US" sz="1838" dirty="0"/>
          </a:p>
        </p:txBody>
      </p:sp>
      <p:sp>
        <p:nvSpPr>
          <p:cNvPr id="12" name="Text 7"/>
          <p:cNvSpPr/>
          <p:nvPr/>
        </p:nvSpPr>
        <p:spPr>
          <a:xfrm>
            <a:off x="7569398" y="2802969"/>
            <a:ext cx="6366629" cy="634603"/>
          </a:xfrm>
          <a:prstGeom prst="rect">
            <a:avLst/>
          </a:prstGeom>
          <a:noFill/>
          <a:ln/>
        </p:spPr>
        <p:txBody>
          <a:bodyPr wrap="square" rtlCol="0" anchor="t"/>
          <a:lstStyle/>
          <a:p>
            <a:pPr algn="l" indent="0" marL="0">
              <a:lnSpc>
                <a:spcPts val="2499"/>
              </a:lnSpc>
              <a:buNone/>
            </a:pPr>
            <a:r>
              <a:rPr lang="en-US" sz="1562" dirty="0">
                <a:solidFill>
                  <a:srgbClr val="CAD6DE"/>
                </a:solidFill>
                <a:latin typeface="Cabin" pitchFamily="34" charset="0"/>
                <a:ea typeface="Cabin" pitchFamily="34" charset="-122"/>
                <a:cs typeface="Cabin" pitchFamily="34" charset="-120"/>
              </a:rPr>
              <a:t>Consolidate and store flight schedules, seat inventories, passenger records, and transaction histories in a secure, centralized database.</a:t>
            </a:r>
            <a:endParaRPr lang="en-US" sz="1562" dirty="0"/>
          </a:p>
        </p:txBody>
      </p:sp>
      <p:sp>
        <p:nvSpPr>
          <p:cNvPr id="13" name="Shape 8"/>
          <p:cNvSpPr/>
          <p:nvPr/>
        </p:nvSpPr>
        <p:spPr>
          <a:xfrm>
            <a:off x="6701492" y="4268153"/>
            <a:ext cx="694373" cy="24765"/>
          </a:xfrm>
          <a:prstGeom prst="rect">
            <a:avLst/>
          </a:prstGeom>
          <a:solidFill>
            <a:srgbClr val="0A988B"/>
          </a:solidFill>
          <a:ln/>
        </p:spPr>
      </p:sp>
      <p:sp>
        <p:nvSpPr>
          <p:cNvPr id="14" name="Shape 9"/>
          <p:cNvSpPr/>
          <p:nvPr/>
        </p:nvSpPr>
        <p:spPr>
          <a:xfrm>
            <a:off x="6255127" y="4057412"/>
            <a:ext cx="446365" cy="446365"/>
          </a:xfrm>
          <a:prstGeom prst="roundRect">
            <a:avLst>
              <a:gd name="adj" fmla="val 13334"/>
            </a:avLst>
          </a:prstGeom>
          <a:solidFill>
            <a:srgbClr val="223D4D"/>
          </a:solidFill>
          <a:ln/>
        </p:spPr>
      </p:sp>
      <p:sp>
        <p:nvSpPr>
          <p:cNvPr id="15" name="Text 10"/>
          <p:cNvSpPr/>
          <p:nvPr/>
        </p:nvSpPr>
        <p:spPr>
          <a:xfrm>
            <a:off x="6367760" y="4140518"/>
            <a:ext cx="220980" cy="280035"/>
          </a:xfrm>
          <a:prstGeom prst="rect">
            <a:avLst/>
          </a:prstGeom>
          <a:noFill/>
          <a:ln/>
        </p:spPr>
        <p:txBody>
          <a:bodyPr wrap="none" rtlCol="0" anchor="t"/>
          <a:lstStyle/>
          <a:p>
            <a:pPr algn="ctr" indent="0" marL="0">
              <a:lnSpc>
                <a:spcPts val="2205"/>
              </a:lnSpc>
              <a:buNone/>
            </a:pPr>
            <a:r>
              <a:rPr lang="en-US" sz="2205" dirty="0">
                <a:solidFill>
                  <a:srgbClr val="FFFFFF"/>
                </a:solidFill>
                <a:latin typeface="Unbounded" pitchFamily="34" charset="0"/>
                <a:ea typeface="Unbounded" pitchFamily="34" charset="-122"/>
                <a:cs typeface="Unbounded" pitchFamily="34" charset="-120"/>
              </a:rPr>
              <a:t>2</a:t>
            </a:r>
            <a:endParaRPr lang="en-US" sz="2205" dirty="0"/>
          </a:p>
        </p:txBody>
      </p:sp>
      <p:sp>
        <p:nvSpPr>
          <p:cNvPr id="16" name="Text 11"/>
          <p:cNvSpPr/>
          <p:nvPr/>
        </p:nvSpPr>
        <p:spPr>
          <a:xfrm>
            <a:off x="7569398" y="4032647"/>
            <a:ext cx="2592467" cy="291703"/>
          </a:xfrm>
          <a:prstGeom prst="rect">
            <a:avLst/>
          </a:prstGeom>
          <a:noFill/>
          <a:ln/>
        </p:spPr>
        <p:txBody>
          <a:bodyPr wrap="none" rtlCol="0" anchor="t"/>
          <a:lstStyle/>
          <a:p>
            <a:pPr algn="l" indent="0" marL="0">
              <a:lnSpc>
                <a:spcPts val="2297"/>
              </a:lnSpc>
              <a:buNone/>
            </a:pPr>
            <a:r>
              <a:rPr lang="en-US" sz="1838" dirty="0">
                <a:solidFill>
                  <a:srgbClr val="FFFFFF"/>
                </a:solidFill>
                <a:latin typeface="Unbounded" pitchFamily="34" charset="0"/>
                <a:ea typeface="Unbounded" pitchFamily="34" charset="-122"/>
                <a:cs typeface="Unbounded" pitchFamily="34" charset="-120"/>
              </a:rPr>
              <a:t>Real-Time Updates</a:t>
            </a:r>
            <a:endParaRPr lang="en-US" sz="1838" dirty="0"/>
          </a:p>
        </p:txBody>
      </p:sp>
      <p:sp>
        <p:nvSpPr>
          <p:cNvPr id="17" name="Text 12"/>
          <p:cNvSpPr/>
          <p:nvPr/>
        </p:nvSpPr>
        <p:spPr>
          <a:xfrm>
            <a:off x="7569398" y="4443293"/>
            <a:ext cx="6366629" cy="634603"/>
          </a:xfrm>
          <a:prstGeom prst="rect">
            <a:avLst/>
          </a:prstGeom>
          <a:noFill/>
          <a:ln/>
        </p:spPr>
        <p:txBody>
          <a:bodyPr wrap="square" rtlCol="0" anchor="t"/>
          <a:lstStyle/>
          <a:p>
            <a:pPr algn="l" indent="0" marL="0">
              <a:lnSpc>
                <a:spcPts val="2499"/>
              </a:lnSpc>
              <a:buNone/>
            </a:pPr>
            <a:r>
              <a:rPr lang="en-US" sz="1562" dirty="0">
                <a:solidFill>
                  <a:srgbClr val="CAD6DE"/>
                </a:solidFill>
                <a:latin typeface="Cabin" pitchFamily="34" charset="0"/>
                <a:ea typeface="Cabin" pitchFamily="34" charset="-122"/>
                <a:cs typeface="Cabin" pitchFamily="34" charset="-120"/>
              </a:rPr>
              <a:t>Implement seamless data synchronization to ensure all system components have access to the most current information.</a:t>
            </a:r>
            <a:endParaRPr lang="en-US" sz="1562" dirty="0"/>
          </a:p>
        </p:txBody>
      </p:sp>
      <p:sp>
        <p:nvSpPr>
          <p:cNvPr id="18" name="Shape 13"/>
          <p:cNvSpPr/>
          <p:nvPr/>
        </p:nvSpPr>
        <p:spPr>
          <a:xfrm>
            <a:off x="6701492" y="5908477"/>
            <a:ext cx="694373" cy="24765"/>
          </a:xfrm>
          <a:prstGeom prst="rect">
            <a:avLst/>
          </a:prstGeom>
          <a:solidFill>
            <a:srgbClr val="0A988B"/>
          </a:solidFill>
          <a:ln/>
        </p:spPr>
      </p:sp>
      <p:sp>
        <p:nvSpPr>
          <p:cNvPr id="19" name="Shape 14"/>
          <p:cNvSpPr/>
          <p:nvPr/>
        </p:nvSpPr>
        <p:spPr>
          <a:xfrm>
            <a:off x="6255127" y="5697736"/>
            <a:ext cx="446365" cy="446365"/>
          </a:xfrm>
          <a:prstGeom prst="roundRect">
            <a:avLst>
              <a:gd name="adj" fmla="val 13334"/>
            </a:avLst>
          </a:prstGeom>
          <a:solidFill>
            <a:srgbClr val="223D4D"/>
          </a:solidFill>
          <a:ln/>
        </p:spPr>
      </p:sp>
      <p:sp>
        <p:nvSpPr>
          <p:cNvPr id="20" name="Text 15"/>
          <p:cNvSpPr/>
          <p:nvPr/>
        </p:nvSpPr>
        <p:spPr>
          <a:xfrm>
            <a:off x="6365617" y="5780842"/>
            <a:ext cx="225266" cy="280035"/>
          </a:xfrm>
          <a:prstGeom prst="rect">
            <a:avLst/>
          </a:prstGeom>
          <a:noFill/>
          <a:ln/>
        </p:spPr>
        <p:txBody>
          <a:bodyPr wrap="none" rtlCol="0" anchor="t"/>
          <a:lstStyle/>
          <a:p>
            <a:pPr algn="ctr" indent="0" marL="0">
              <a:lnSpc>
                <a:spcPts val="2205"/>
              </a:lnSpc>
              <a:buNone/>
            </a:pPr>
            <a:r>
              <a:rPr lang="en-US" sz="2205" dirty="0">
                <a:solidFill>
                  <a:srgbClr val="FFFFFF"/>
                </a:solidFill>
                <a:latin typeface="Unbounded" pitchFamily="34" charset="0"/>
                <a:ea typeface="Unbounded" pitchFamily="34" charset="-122"/>
                <a:cs typeface="Unbounded" pitchFamily="34" charset="-120"/>
              </a:rPr>
              <a:t>3</a:t>
            </a:r>
            <a:endParaRPr lang="en-US" sz="2205" dirty="0"/>
          </a:p>
        </p:txBody>
      </p:sp>
      <p:sp>
        <p:nvSpPr>
          <p:cNvPr id="21" name="Text 16"/>
          <p:cNvSpPr/>
          <p:nvPr/>
        </p:nvSpPr>
        <p:spPr>
          <a:xfrm>
            <a:off x="7569398" y="5672971"/>
            <a:ext cx="3028593" cy="291703"/>
          </a:xfrm>
          <a:prstGeom prst="rect">
            <a:avLst/>
          </a:prstGeom>
          <a:noFill/>
          <a:ln/>
        </p:spPr>
        <p:txBody>
          <a:bodyPr wrap="none" rtlCol="0" anchor="t"/>
          <a:lstStyle/>
          <a:p>
            <a:pPr algn="l" indent="0" marL="0">
              <a:lnSpc>
                <a:spcPts val="2297"/>
              </a:lnSpc>
              <a:buNone/>
            </a:pPr>
            <a:r>
              <a:rPr lang="en-US" sz="1838" dirty="0">
                <a:solidFill>
                  <a:srgbClr val="FFFFFF"/>
                </a:solidFill>
                <a:latin typeface="Unbounded" pitchFamily="34" charset="0"/>
                <a:ea typeface="Unbounded" pitchFamily="34" charset="-122"/>
                <a:cs typeface="Unbounded" pitchFamily="34" charset="-120"/>
              </a:rPr>
              <a:t>Backup and Recovery</a:t>
            </a:r>
            <a:endParaRPr lang="en-US" sz="1838" dirty="0"/>
          </a:p>
        </p:txBody>
      </p:sp>
      <p:sp>
        <p:nvSpPr>
          <p:cNvPr id="22" name="Text 17"/>
          <p:cNvSpPr/>
          <p:nvPr/>
        </p:nvSpPr>
        <p:spPr>
          <a:xfrm>
            <a:off x="7569398" y="6083618"/>
            <a:ext cx="6366629" cy="634603"/>
          </a:xfrm>
          <a:prstGeom prst="rect">
            <a:avLst/>
          </a:prstGeom>
          <a:noFill/>
          <a:ln/>
        </p:spPr>
        <p:txBody>
          <a:bodyPr wrap="square" rtlCol="0" anchor="t"/>
          <a:lstStyle/>
          <a:p>
            <a:pPr algn="l" indent="0" marL="0">
              <a:lnSpc>
                <a:spcPts val="2499"/>
              </a:lnSpc>
              <a:buNone/>
            </a:pPr>
            <a:r>
              <a:rPr lang="en-US" sz="1562" dirty="0">
                <a:solidFill>
                  <a:srgbClr val="CAD6DE"/>
                </a:solidFill>
                <a:latin typeface="Cabin" pitchFamily="34" charset="0"/>
                <a:ea typeface="Cabin" pitchFamily="34" charset="-122"/>
                <a:cs typeface="Cabin" pitchFamily="34" charset="-120"/>
              </a:rPr>
              <a:t>Implement robust backup and disaster recovery strategies to safeguard critical data and ensure business continuity.</a:t>
            </a:r>
            <a:endParaRPr lang="en-US" sz="1562" dirty="0"/>
          </a:p>
        </p:txBody>
      </p:sp>
      <p:pic>
        <p:nvPicPr>
          <p:cNvPr id="23" name="Image 3" descr="preencoded.png">
            <a:hlinkClick r:id="rId5" tooltip=""/>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pic>
        <p:nvPicPr>
          <p:cNvPr id="5" name="Image 2" descr="preencoded.png">    </p:cNvPr>
          <p:cNvPicPr>
            <a:picLocks noChangeAspect="1"/>
          </p:cNvPicPr>
          <p:nvPr/>
        </p:nvPicPr>
        <p:blipFill>
          <a:blip r:embed="rId3"/>
          <a:stretch>
            <a:fillRect/>
          </a:stretch>
        </p:blipFill>
        <p:spPr>
          <a:xfrm>
            <a:off x="9360098" y="2775347"/>
            <a:ext cx="5054203" cy="2678787"/>
          </a:xfrm>
          <a:prstGeom prst="rect">
            <a:avLst/>
          </a:prstGeom>
        </p:spPr>
      </p:pic>
      <p:sp>
        <p:nvSpPr>
          <p:cNvPr id="6" name="Text 1"/>
          <p:cNvSpPr/>
          <p:nvPr/>
        </p:nvSpPr>
        <p:spPr>
          <a:xfrm>
            <a:off x="604837" y="711875"/>
            <a:ext cx="7934325" cy="1016318"/>
          </a:xfrm>
          <a:prstGeom prst="rect">
            <a:avLst/>
          </a:prstGeom>
          <a:noFill/>
          <a:ln/>
        </p:spPr>
        <p:txBody>
          <a:bodyPr wrap="square" rtlCol="0" anchor="t"/>
          <a:lstStyle/>
          <a:p>
            <a:pPr indent="0" marL="0">
              <a:lnSpc>
                <a:spcPts val="4002"/>
              </a:lnSpc>
              <a:buNone/>
            </a:pPr>
            <a:r>
              <a:rPr lang="en-US" sz="3202" dirty="0">
                <a:solidFill>
                  <a:srgbClr val="FFFFFF"/>
                </a:solidFill>
                <a:latin typeface="Unbounded" pitchFamily="34" charset="0"/>
                <a:ea typeface="Unbounded" pitchFamily="34" charset="-122"/>
                <a:cs typeface="Unbounded" pitchFamily="34" charset="-120"/>
              </a:rPr>
              <a:t>Booking and Reservation Workflow</a:t>
            </a:r>
            <a:endParaRPr lang="en-US" sz="3202" dirty="0"/>
          </a:p>
        </p:txBody>
      </p:sp>
      <p:pic>
        <p:nvPicPr>
          <p:cNvPr id="7" name="Image 3" descr="preencoded.png">    </p:cNvPr>
          <p:cNvPicPr>
            <a:picLocks noChangeAspect="1"/>
          </p:cNvPicPr>
          <p:nvPr/>
        </p:nvPicPr>
        <p:blipFill>
          <a:blip r:embed="rId4"/>
          <a:stretch>
            <a:fillRect/>
          </a:stretch>
        </p:blipFill>
        <p:spPr>
          <a:xfrm>
            <a:off x="604837" y="1987391"/>
            <a:ext cx="864037" cy="1382554"/>
          </a:xfrm>
          <a:prstGeom prst="rect">
            <a:avLst/>
          </a:prstGeom>
        </p:spPr>
      </p:pic>
      <p:sp>
        <p:nvSpPr>
          <p:cNvPr id="8" name="Text 2"/>
          <p:cNvSpPr/>
          <p:nvPr/>
        </p:nvSpPr>
        <p:spPr>
          <a:xfrm>
            <a:off x="1728073" y="2160151"/>
            <a:ext cx="2033111" cy="254198"/>
          </a:xfrm>
          <a:prstGeom prst="rect">
            <a:avLst/>
          </a:prstGeom>
          <a:noFill/>
          <a:ln/>
        </p:spPr>
        <p:txBody>
          <a:bodyPr wrap="none" rtlCol="0" anchor="t"/>
          <a:lstStyle/>
          <a:p>
            <a:pPr algn="l" indent="0" marL="0">
              <a:lnSpc>
                <a:spcPts val="2001"/>
              </a:lnSpc>
              <a:buNone/>
            </a:pPr>
            <a:r>
              <a:rPr lang="en-US" sz="1601" dirty="0">
                <a:solidFill>
                  <a:srgbClr val="FFFFFF"/>
                </a:solidFill>
                <a:latin typeface="Unbounded" pitchFamily="34" charset="0"/>
                <a:ea typeface="Unbounded" pitchFamily="34" charset="-122"/>
                <a:cs typeface="Unbounded" pitchFamily="34" charset="-120"/>
              </a:rPr>
              <a:t>Flight Search</a:t>
            </a:r>
            <a:endParaRPr lang="en-US" sz="1601" dirty="0"/>
          </a:p>
        </p:txBody>
      </p:sp>
      <p:sp>
        <p:nvSpPr>
          <p:cNvPr id="9" name="Text 3"/>
          <p:cNvSpPr/>
          <p:nvPr/>
        </p:nvSpPr>
        <p:spPr>
          <a:xfrm>
            <a:off x="1728073" y="2517934"/>
            <a:ext cx="6811089" cy="276582"/>
          </a:xfrm>
          <a:prstGeom prst="rect">
            <a:avLst/>
          </a:prstGeom>
          <a:noFill/>
          <a:ln/>
        </p:spPr>
        <p:txBody>
          <a:bodyPr wrap="none" rtlCol="0" anchor="t"/>
          <a:lstStyle/>
          <a:p>
            <a:pPr algn="l" indent="0" marL="0">
              <a:lnSpc>
                <a:spcPts val="2177"/>
              </a:lnSpc>
              <a:buNone/>
            </a:pPr>
            <a:r>
              <a:rPr lang="en-US" sz="1361" dirty="0">
                <a:solidFill>
                  <a:srgbClr val="CAD6DE"/>
                </a:solidFill>
                <a:latin typeface="Cabin" pitchFamily="34" charset="0"/>
                <a:ea typeface="Cabin" pitchFamily="34" charset="-122"/>
                <a:cs typeface="Cabin" pitchFamily="34" charset="-120"/>
              </a:rPr>
              <a:t>Allow users to search for available flights based on their travel preferences.</a:t>
            </a:r>
            <a:endParaRPr lang="en-US" sz="1361" dirty="0"/>
          </a:p>
        </p:txBody>
      </p:sp>
      <p:pic>
        <p:nvPicPr>
          <p:cNvPr id="10" name="Image 4" descr="preencoded.png">    </p:cNvPr>
          <p:cNvPicPr>
            <a:picLocks noChangeAspect="1"/>
          </p:cNvPicPr>
          <p:nvPr/>
        </p:nvPicPr>
        <p:blipFill>
          <a:blip r:embed="rId5"/>
          <a:stretch>
            <a:fillRect/>
          </a:stretch>
        </p:blipFill>
        <p:spPr>
          <a:xfrm>
            <a:off x="604837" y="3369945"/>
            <a:ext cx="864037" cy="1382554"/>
          </a:xfrm>
          <a:prstGeom prst="rect">
            <a:avLst/>
          </a:prstGeom>
        </p:spPr>
      </p:pic>
      <p:sp>
        <p:nvSpPr>
          <p:cNvPr id="11" name="Text 4"/>
          <p:cNvSpPr/>
          <p:nvPr/>
        </p:nvSpPr>
        <p:spPr>
          <a:xfrm>
            <a:off x="1728073" y="3542705"/>
            <a:ext cx="2033111" cy="254198"/>
          </a:xfrm>
          <a:prstGeom prst="rect">
            <a:avLst/>
          </a:prstGeom>
          <a:noFill/>
          <a:ln/>
        </p:spPr>
        <p:txBody>
          <a:bodyPr wrap="none" rtlCol="0" anchor="t"/>
          <a:lstStyle/>
          <a:p>
            <a:pPr algn="l" indent="0" marL="0">
              <a:lnSpc>
                <a:spcPts val="2001"/>
              </a:lnSpc>
              <a:buNone/>
            </a:pPr>
            <a:r>
              <a:rPr lang="en-US" sz="1601" dirty="0">
                <a:solidFill>
                  <a:srgbClr val="FFFFFF"/>
                </a:solidFill>
                <a:latin typeface="Unbounded" pitchFamily="34" charset="0"/>
                <a:ea typeface="Unbounded" pitchFamily="34" charset="-122"/>
                <a:cs typeface="Unbounded" pitchFamily="34" charset="-120"/>
              </a:rPr>
              <a:t>Seat Selection</a:t>
            </a:r>
            <a:endParaRPr lang="en-US" sz="1601" dirty="0"/>
          </a:p>
        </p:txBody>
      </p:sp>
      <p:sp>
        <p:nvSpPr>
          <p:cNvPr id="12" name="Text 5"/>
          <p:cNvSpPr/>
          <p:nvPr/>
        </p:nvSpPr>
        <p:spPr>
          <a:xfrm>
            <a:off x="1728073" y="3900488"/>
            <a:ext cx="6811089" cy="276582"/>
          </a:xfrm>
          <a:prstGeom prst="rect">
            <a:avLst/>
          </a:prstGeom>
          <a:noFill/>
          <a:ln/>
        </p:spPr>
        <p:txBody>
          <a:bodyPr wrap="none" rtlCol="0" anchor="t"/>
          <a:lstStyle/>
          <a:p>
            <a:pPr algn="l" indent="0" marL="0">
              <a:lnSpc>
                <a:spcPts val="2177"/>
              </a:lnSpc>
              <a:buNone/>
            </a:pPr>
            <a:r>
              <a:rPr lang="en-US" sz="1361" dirty="0">
                <a:solidFill>
                  <a:srgbClr val="CAD6DE"/>
                </a:solidFill>
                <a:latin typeface="Cabin" pitchFamily="34" charset="0"/>
                <a:ea typeface="Cabin" pitchFamily="34" charset="-122"/>
                <a:cs typeface="Cabin" pitchFamily="34" charset="-120"/>
              </a:rPr>
              <a:t>Enable passengers to choose their preferred seats and view seat availability.</a:t>
            </a:r>
            <a:endParaRPr lang="en-US" sz="1361" dirty="0"/>
          </a:p>
        </p:txBody>
      </p:sp>
      <p:pic>
        <p:nvPicPr>
          <p:cNvPr id="13" name="Image 5" descr="preencoded.png">    </p:cNvPr>
          <p:cNvPicPr>
            <a:picLocks noChangeAspect="1"/>
          </p:cNvPicPr>
          <p:nvPr/>
        </p:nvPicPr>
        <p:blipFill>
          <a:blip r:embed="rId6"/>
          <a:stretch>
            <a:fillRect/>
          </a:stretch>
        </p:blipFill>
        <p:spPr>
          <a:xfrm>
            <a:off x="604837" y="4752499"/>
            <a:ext cx="864037" cy="1382554"/>
          </a:xfrm>
          <a:prstGeom prst="rect">
            <a:avLst/>
          </a:prstGeom>
        </p:spPr>
      </p:pic>
      <p:sp>
        <p:nvSpPr>
          <p:cNvPr id="14" name="Text 6"/>
          <p:cNvSpPr/>
          <p:nvPr/>
        </p:nvSpPr>
        <p:spPr>
          <a:xfrm>
            <a:off x="1728073" y="4925258"/>
            <a:ext cx="2786896" cy="254198"/>
          </a:xfrm>
          <a:prstGeom prst="rect">
            <a:avLst/>
          </a:prstGeom>
          <a:noFill/>
          <a:ln/>
        </p:spPr>
        <p:txBody>
          <a:bodyPr wrap="none" rtlCol="0" anchor="t"/>
          <a:lstStyle/>
          <a:p>
            <a:pPr algn="l" indent="0" marL="0">
              <a:lnSpc>
                <a:spcPts val="2001"/>
              </a:lnSpc>
              <a:buNone/>
            </a:pPr>
            <a:r>
              <a:rPr lang="en-US" sz="1601" dirty="0">
                <a:solidFill>
                  <a:srgbClr val="FFFFFF"/>
                </a:solidFill>
                <a:latin typeface="Unbounded" pitchFamily="34" charset="0"/>
                <a:ea typeface="Unbounded" pitchFamily="34" charset="-122"/>
                <a:cs typeface="Unbounded" pitchFamily="34" charset="-120"/>
              </a:rPr>
              <a:t>Payment and Ticketing</a:t>
            </a:r>
            <a:endParaRPr lang="en-US" sz="1601" dirty="0"/>
          </a:p>
        </p:txBody>
      </p:sp>
      <p:sp>
        <p:nvSpPr>
          <p:cNvPr id="15" name="Text 7"/>
          <p:cNvSpPr/>
          <p:nvPr/>
        </p:nvSpPr>
        <p:spPr>
          <a:xfrm>
            <a:off x="1728073" y="5283041"/>
            <a:ext cx="6811089" cy="276582"/>
          </a:xfrm>
          <a:prstGeom prst="rect">
            <a:avLst/>
          </a:prstGeom>
          <a:noFill/>
          <a:ln/>
        </p:spPr>
        <p:txBody>
          <a:bodyPr wrap="none" rtlCol="0" anchor="t"/>
          <a:lstStyle/>
          <a:p>
            <a:pPr algn="l" indent="0" marL="0">
              <a:lnSpc>
                <a:spcPts val="2177"/>
              </a:lnSpc>
              <a:buNone/>
            </a:pPr>
            <a:r>
              <a:rPr lang="en-US" sz="1361" dirty="0">
                <a:solidFill>
                  <a:srgbClr val="CAD6DE"/>
                </a:solidFill>
                <a:latin typeface="Cabin" pitchFamily="34" charset="0"/>
                <a:ea typeface="Cabin" pitchFamily="34" charset="-122"/>
                <a:cs typeface="Cabin" pitchFamily="34" charset="-120"/>
              </a:rPr>
              <a:t>Facilitate secure payment processing and issue electronic tickets to passengers.</a:t>
            </a:r>
            <a:endParaRPr lang="en-US" sz="1361" dirty="0"/>
          </a:p>
        </p:txBody>
      </p:sp>
      <p:pic>
        <p:nvPicPr>
          <p:cNvPr id="16" name="Image 6" descr="preencoded.png">    </p:cNvPr>
          <p:cNvPicPr>
            <a:picLocks noChangeAspect="1"/>
          </p:cNvPicPr>
          <p:nvPr/>
        </p:nvPicPr>
        <p:blipFill>
          <a:blip r:embed="rId7"/>
          <a:stretch>
            <a:fillRect/>
          </a:stretch>
        </p:blipFill>
        <p:spPr>
          <a:xfrm>
            <a:off x="604837" y="6135053"/>
            <a:ext cx="864037" cy="1382554"/>
          </a:xfrm>
          <a:prstGeom prst="rect">
            <a:avLst/>
          </a:prstGeom>
        </p:spPr>
      </p:pic>
      <p:sp>
        <p:nvSpPr>
          <p:cNvPr id="17" name="Text 8"/>
          <p:cNvSpPr/>
          <p:nvPr/>
        </p:nvSpPr>
        <p:spPr>
          <a:xfrm>
            <a:off x="1728073" y="6307812"/>
            <a:ext cx="3170992" cy="254198"/>
          </a:xfrm>
          <a:prstGeom prst="rect">
            <a:avLst/>
          </a:prstGeom>
          <a:noFill/>
          <a:ln/>
        </p:spPr>
        <p:txBody>
          <a:bodyPr wrap="none" rtlCol="0" anchor="t"/>
          <a:lstStyle/>
          <a:p>
            <a:pPr algn="l" indent="0" marL="0">
              <a:lnSpc>
                <a:spcPts val="2001"/>
              </a:lnSpc>
              <a:buNone/>
            </a:pPr>
            <a:r>
              <a:rPr lang="en-US" sz="1601" dirty="0">
                <a:solidFill>
                  <a:srgbClr val="FFFFFF"/>
                </a:solidFill>
                <a:latin typeface="Unbounded" pitchFamily="34" charset="0"/>
                <a:ea typeface="Unbounded" pitchFamily="34" charset="-122"/>
                <a:cs typeface="Unbounded" pitchFamily="34" charset="-120"/>
              </a:rPr>
              <a:t>Reservation Management</a:t>
            </a:r>
            <a:endParaRPr lang="en-US" sz="1601" dirty="0"/>
          </a:p>
        </p:txBody>
      </p:sp>
      <p:sp>
        <p:nvSpPr>
          <p:cNvPr id="18" name="Text 9"/>
          <p:cNvSpPr/>
          <p:nvPr/>
        </p:nvSpPr>
        <p:spPr>
          <a:xfrm>
            <a:off x="1728073" y="6665595"/>
            <a:ext cx="6811089" cy="276582"/>
          </a:xfrm>
          <a:prstGeom prst="rect">
            <a:avLst/>
          </a:prstGeom>
          <a:noFill/>
          <a:ln/>
        </p:spPr>
        <p:txBody>
          <a:bodyPr wrap="none" rtlCol="0" anchor="t"/>
          <a:lstStyle/>
          <a:p>
            <a:pPr algn="l" indent="0" marL="0">
              <a:lnSpc>
                <a:spcPts val="2177"/>
              </a:lnSpc>
              <a:buNone/>
            </a:pPr>
            <a:r>
              <a:rPr lang="en-US" sz="1361" dirty="0">
                <a:solidFill>
                  <a:srgbClr val="CAD6DE"/>
                </a:solidFill>
                <a:latin typeface="Cabin" pitchFamily="34" charset="0"/>
                <a:ea typeface="Cabin" pitchFamily="34" charset="-122"/>
                <a:cs typeface="Cabin" pitchFamily="34" charset="-120"/>
              </a:rPr>
              <a:t>Provide users with the ability to view, modify, and cancel their reservations.</a:t>
            </a:r>
            <a:endParaRPr lang="en-US" sz="1361" dirty="0"/>
          </a:p>
        </p:txBody>
      </p:sp>
      <p:pic>
        <p:nvPicPr>
          <p:cNvPr id="19" name="Image 7" descr="preencoded.png">
            <a:hlinkClick r:id="rId9" tooltip=""/>
          </p:cNvPr>
          <p:cNvPicPr>
            <a:picLocks noChangeAspect="1"/>
          </p:cNvPicPr>
          <p:nvPr/>
        </p:nvPicPr>
        <p:blipFill>
          <a:blip r:embed="rId8"/>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4" name="Text 1"/>
          <p:cNvSpPr/>
          <p:nvPr/>
        </p:nvSpPr>
        <p:spPr>
          <a:xfrm>
            <a:off x="968693" y="892135"/>
            <a:ext cx="10422850" cy="726043"/>
          </a:xfrm>
          <a:prstGeom prst="rect">
            <a:avLst/>
          </a:prstGeom>
          <a:noFill/>
          <a:ln/>
        </p:spPr>
        <p:txBody>
          <a:bodyPr wrap="none" rtlCol="0" anchor="t"/>
          <a:lstStyle/>
          <a:p>
            <a:pPr indent="0" marL="0">
              <a:lnSpc>
                <a:spcPts val="5718"/>
              </a:lnSpc>
              <a:buNone/>
            </a:pPr>
            <a:r>
              <a:rPr lang="en-US" sz="4574" dirty="0">
                <a:solidFill>
                  <a:srgbClr val="FFFFFF"/>
                </a:solidFill>
                <a:latin typeface="Unbounded" pitchFamily="34" charset="0"/>
                <a:ea typeface="Unbounded" pitchFamily="34" charset="-122"/>
                <a:cs typeface="Unbounded" pitchFamily="34" charset="-120"/>
              </a:rPr>
              <a:t>Seat Selection and Availability</a:t>
            </a:r>
            <a:endParaRPr lang="en-US" sz="4574" dirty="0"/>
          </a:p>
        </p:txBody>
      </p:sp>
      <p:pic>
        <p:nvPicPr>
          <p:cNvPr id="5" name="Image 1" descr="preencoded.png">    </p:cNvPr>
          <p:cNvPicPr>
            <a:picLocks noChangeAspect="1"/>
          </p:cNvPicPr>
          <p:nvPr/>
        </p:nvPicPr>
        <p:blipFill>
          <a:blip r:embed="rId2"/>
          <a:stretch>
            <a:fillRect/>
          </a:stretch>
        </p:blipFill>
        <p:spPr>
          <a:xfrm>
            <a:off x="968693" y="2111931"/>
            <a:ext cx="3984069" cy="2462332"/>
          </a:xfrm>
          <a:prstGeom prst="rect">
            <a:avLst/>
          </a:prstGeom>
        </p:spPr>
      </p:pic>
      <p:sp>
        <p:nvSpPr>
          <p:cNvPr id="6" name="Text 2"/>
          <p:cNvSpPr/>
          <p:nvPr/>
        </p:nvSpPr>
        <p:spPr>
          <a:xfrm>
            <a:off x="968693" y="4882872"/>
            <a:ext cx="3661886" cy="363141"/>
          </a:xfrm>
          <a:prstGeom prst="rect">
            <a:avLst/>
          </a:prstGeom>
          <a:noFill/>
          <a:ln/>
        </p:spPr>
        <p:txBody>
          <a:bodyPr wrap="none" rtlCol="0" anchor="t"/>
          <a:lstStyle/>
          <a:p>
            <a:pPr algn="l" indent="0" marL="0">
              <a:lnSpc>
                <a:spcPts val="2859"/>
              </a:lnSpc>
              <a:buNone/>
            </a:pPr>
            <a:r>
              <a:rPr lang="en-US" sz="2287" dirty="0">
                <a:solidFill>
                  <a:srgbClr val="FFFFFF"/>
                </a:solidFill>
                <a:latin typeface="Unbounded" pitchFamily="34" charset="0"/>
                <a:ea typeface="Unbounded" pitchFamily="34" charset="-122"/>
                <a:cs typeface="Unbounded" pitchFamily="34" charset="-120"/>
              </a:rPr>
              <a:t>Interactive Seat Map</a:t>
            </a:r>
            <a:endParaRPr lang="en-US" sz="2287" dirty="0"/>
          </a:p>
        </p:txBody>
      </p:sp>
      <p:sp>
        <p:nvSpPr>
          <p:cNvPr id="7" name="Text 3"/>
          <p:cNvSpPr/>
          <p:nvPr/>
        </p:nvSpPr>
        <p:spPr>
          <a:xfrm>
            <a:off x="968693" y="5394127"/>
            <a:ext cx="3984069" cy="1185148"/>
          </a:xfrm>
          <a:prstGeom prst="rect">
            <a:avLst/>
          </a:prstGeom>
          <a:noFill/>
          <a:ln/>
        </p:spPr>
        <p:txBody>
          <a:bodyPr wrap="square" rtlCol="0" anchor="t"/>
          <a:lstStyle/>
          <a:p>
            <a:pPr algn="l" indent="0" marL="0">
              <a:lnSpc>
                <a:spcPts val="3110"/>
              </a:lnSpc>
              <a:buNone/>
            </a:pPr>
            <a:r>
              <a:rPr lang="en-US" sz="1944" dirty="0">
                <a:solidFill>
                  <a:srgbClr val="CAD6DE"/>
                </a:solidFill>
                <a:latin typeface="Cabin" pitchFamily="34" charset="0"/>
                <a:ea typeface="Cabin" pitchFamily="34" charset="-122"/>
                <a:cs typeface="Cabin" pitchFamily="34" charset="-120"/>
              </a:rPr>
              <a:t>Allow passengers to visually select their preferred seats and view real-time seat availability.</a:t>
            </a:r>
            <a:endParaRPr lang="en-US" sz="1944" dirty="0"/>
          </a:p>
        </p:txBody>
      </p:sp>
      <p:pic>
        <p:nvPicPr>
          <p:cNvPr id="8" name="Image 2" descr="preencoded.png">    </p:cNvPr>
          <p:cNvPicPr>
            <a:picLocks noChangeAspect="1"/>
          </p:cNvPicPr>
          <p:nvPr/>
        </p:nvPicPr>
        <p:blipFill>
          <a:blip r:embed="rId3"/>
          <a:stretch>
            <a:fillRect/>
          </a:stretch>
        </p:blipFill>
        <p:spPr>
          <a:xfrm>
            <a:off x="5323046" y="2111931"/>
            <a:ext cx="3984069" cy="2462332"/>
          </a:xfrm>
          <a:prstGeom prst="rect">
            <a:avLst/>
          </a:prstGeom>
        </p:spPr>
      </p:pic>
      <p:sp>
        <p:nvSpPr>
          <p:cNvPr id="9" name="Text 4"/>
          <p:cNvSpPr/>
          <p:nvPr/>
        </p:nvSpPr>
        <p:spPr>
          <a:xfrm>
            <a:off x="5323046" y="4882872"/>
            <a:ext cx="3984069" cy="726281"/>
          </a:xfrm>
          <a:prstGeom prst="rect">
            <a:avLst/>
          </a:prstGeom>
          <a:noFill/>
          <a:ln/>
        </p:spPr>
        <p:txBody>
          <a:bodyPr wrap="square" rtlCol="0" anchor="t"/>
          <a:lstStyle/>
          <a:p>
            <a:pPr algn="l" indent="0" marL="0">
              <a:lnSpc>
                <a:spcPts val="2859"/>
              </a:lnSpc>
              <a:buNone/>
            </a:pPr>
            <a:r>
              <a:rPr lang="en-US" sz="2287" dirty="0">
                <a:solidFill>
                  <a:srgbClr val="FFFFFF"/>
                </a:solidFill>
                <a:latin typeface="Unbounded" pitchFamily="34" charset="0"/>
                <a:ea typeface="Unbounded" pitchFamily="34" charset="-122"/>
                <a:cs typeface="Unbounded" pitchFamily="34" charset="-120"/>
              </a:rPr>
              <a:t>Seat Class Management</a:t>
            </a:r>
            <a:endParaRPr lang="en-US" sz="2287" dirty="0"/>
          </a:p>
        </p:txBody>
      </p:sp>
      <p:sp>
        <p:nvSpPr>
          <p:cNvPr id="10" name="Text 5"/>
          <p:cNvSpPr/>
          <p:nvPr/>
        </p:nvSpPr>
        <p:spPr>
          <a:xfrm>
            <a:off x="5323046" y="5757267"/>
            <a:ext cx="3984069" cy="1185148"/>
          </a:xfrm>
          <a:prstGeom prst="rect">
            <a:avLst/>
          </a:prstGeom>
          <a:noFill/>
          <a:ln/>
        </p:spPr>
        <p:txBody>
          <a:bodyPr wrap="square" rtlCol="0" anchor="t"/>
          <a:lstStyle/>
          <a:p>
            <a:pPr algn="l" indent="0" marL="0">
              <a:lnSpc>
                <a:spcPts val="3110"/>
              </a:lnSpc>
              <a:buNone/>
            </a:pPr>
            <a:r>
              <a:rPr lang="en-US" sz="1944" dirty="0">
                <a:solidFill>
                  <a:srgbClr val="CAD6DE"/>
                </a:solidFill>
                <a:latin typeface="Cabin" pitchFamily="34" charset="0"/>
                <a:ea typeface="Cabin" pitchFamily="34" charset="-122"/>
                <a:cs typeface="Cabin" pitchFamily="34" charset="-120"/>
              </a:rPr>
              <a:t>Offer different seating classes (economy, business, first) with corresponding pricing and amenities.</a:t>
            </a:r>
            <a:endParaRPr lang="en-US" sz="1944" dirty="0"/>
          </a:p>
        </p:txBody>
      </p:sp>
      <p:pic>
        <p:nvPicPr>
          <p:cNvPr id="11" name="Image 3" descr="preencoded.png">    </p:cNvPr>
          <p:cNvPicPr>
            <a:picLocks noChangeAspect="1"/>
          </p:cNvPicPr>
          <p:nvPr/>
        </p:nvPicPr>
        <p:blipFill>
          <a:blip r:embed="rId4"/>
          <a:stretch>
            <a:fillRect/>
          </a:stretch>
        </p:blipFill>
        <p:spPr>
          <a:xfrm>
            <a:off x="9677400" y="2111931"/>
            <a:ext cx="3984188" cy="2462332"/>
          </a:xfrm>
          <a:prstGeom prst="rect">
            <a:avLst/>
          </a:prstGeom>
        </p:spPr>
      </p:pic>
      <p:sp>
        <p:nvSpPr>
          <p:cNvPr id="12" name="Text 6"/>
          <p:cNvSpPr/>
          <p:nvPr/>
        </p:nvSpPr>
        <p:spPr>
          <a:xfrm>
            <a:off x="9677400" y="4882872"/>
            <a:ext cx="3984188" cy="726281"/>
          </a:xfrm>
          <a:prstGeom prst="rect">
            <a:avLst/>
          </a:prstGeom>
          <a:noFill/>
          <a:ln/>
        </p:spPr>
        <p:txBody>
          <a:bodyPr wrap="square" rtlCol="0" anchor="t"/>
          <a:lstStyle/>
          <a:p>
            <a:pPr algn="l" indent="0" marL="0">
              <a:lnSpc>
                <a:spcPts val="2859"/>
              </a:lnSpc>
              <a:buNone/>
            </a:pPr>
            <a:r>
              <a:rPr lang="en-US" sz="2287" dirty="0">
                <a:solidFill>
                  <a:srgbClr val="FFFFFF"/>
                </a:solidFill>
                <a:latin typeface="Unbounded" pitchFamily="34" charset="0"/>
                <a:ea typeface="Unbounded" pitchFamily="34" charset="-122"/>
                <a:cs typeface="Unbounded" pitchFamily="34" charset="-120"/>
              </a:rPr>
              <a:t>Advanced Seat Algorithms</a:t>
            </a:r>
            <a:endParaRPr lang="en-US" sz="2287" dirty="0"/>
          </a:p>
        </p:txBody>
      </p:sp>
      <p:sp>
        <p:nvSpPr>
          <p:cNvPr id="13" name="Text 7"/>
          <p:cNvSpPr/>
          <p:nvPr/>
        </p:nvSpPr>
        <p:spPr>
          <a:xfrm>
            <a:off x="9677400" y="5757267"/>
            <a:ext cx="3984188" cy="1580198"/>
          </a:xfrm>
          <a:prstGeom prst="rect">
            <a:avLst/>
          </a:prstGeom>
          <a:noFill/>
          <a:ln/>
        </p:spPr>
        <p:txBody>
          <a:bodyPr wrap="square" rtlCol="0" anchor="t"/>
          <a:lstStyle/>
          <a:p>
            <a:pPr algn="l" indent="0" marL="0">
              <a:lnSpc>
                <a:spcPts val="3110"/>
              </a:lnSpc>
              <a:buNone/>
            </a:pPr>
            <a:r>
              <a:rPr lang="en-US" sz="1944" dirty="0">
                <a:solidFill>
                  <a:srgbClr val="CAD6DE"/>
                </a:solidFill>
                <a:latin typeface="Cabin" pitchFamily="34" charset="0"/>
                <a:ea typeface="Cabin" pitchFamily="34" charset="-122"/>
                <a:cs typeface="Cabin" pitchFamily="34" charset="-120"/>
              </a:rPr>
              <a:t>Implement intelligent seat assignment algorithms to optimize cabin utilization and passenger comfort.</a:t>
            </a:r>
            <a:endParaRPr lang="en-US" sz="1944" dirty="0"/>
          </a:p>
        </p:txBody>
      </p:sp>
      <p:pic>
        <p:nvPicPr>
          <p:cNvPr id="14" name="Image 4" descr="preencoded.png">
            <a:hlinkClick r:id="rId6" tooltip=""/>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782407"/>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9144000" y="0"/>
            <a:ext cx="5486400" cy="8782407"/>
          </a:xfrm>
          <a:prstGeom prst="rect">
            <a:avLst/>
          </a:prstGeom>
        </p:spPr>
      </p:pic>
      <p:pic>
        <p:nvPicPr>
          <p:cNvPr id="5" name="Image 2" descr="preencoded.png">    </p:cNvPr>
          <p:cNvPicPr>
            <a:picLocks noChangeAspect="1"/>
          </p:cNvPicPr>
          <p:nvPr/>
        </p:nvPicPr>
        <p:blipFill>
          <a:blip r:embed="rId3"/>
          <a:stretch>
            <a:fillRect/>
          </a:stretch>
        </p:blipFill>
        <p:spPr>
          <a:xfrm>
            <a:off x="9359979" y="2969657"/>
            <a:ext cx="5054322" cy="2843093"/>
          </a:xfrm>
          <a:prstGeom prst="rect">
            <a:avLst/>
          </a:prstGeom>
        </p:spPr>
      </p:pic>
      <p:sp>
        <p:nvSpPr>
          <p:cNvPr id="6" name="Text 1"/>
          <p:cNvSpPr/>
          <p:nvPr/>
        </p:nvSpPr>
        <p:spPr>
          <a:xfrm>
            <a:off x="604837" y="475178"/>
            <a:ext cx="7652266" cy="508159"/>
          </a:xfrm>
          <a:prstGeom prst="rect">
            <a:avLst/>
          </a:prstGeom>
          <a:noFill/>
          <a:ln/>
        </p:spPr>
        <p:txBody>
          <a:bodyPr wrap="none" rtlCol="0" anchor="t"/>
          <a:lstStyle/>
          <a:p>
            <a:pPr indent="0" marL="0">
              <a:lnSpc>
                <a:spcPts val="4002"/>
              </a:lnSpc>
              <a:buNone/>
            </a:pPr>
            <a:r>
              <a:rPr lang="en-US" sz="3202" dirty="0">
                <a:solidFill>
                  <a:srgbClr val="FFFFFF"/>
                </a:solidFill>
                <a:latin typeface="Unbounded" pitchFamily="34" charset="0"/>
                <a:ea typeface="Unbounded" pitchFamily="34" charset="-122"/>
                <a:cs typeface="Unbounded" pitchFamily="34" charset="-120"/>
              </a:rPr>
              <a:t>Payment and Ticketing Process</a:t>
            </a:r>
            <a:endParaRPr lang="en-US" sz="3202" dirty="0"/>
          </a:p>
        </p:txBody>
      </p:sp>
      <p:pic>
        <p:nvPicPr>
          <p:cNvPr id="7" name="Image 3" descr="preencoded.png">    </p:cNvPr>
          <p:cNvPicPr>
            <a:picLocks noChangeAspect="1"/>
          </p:cNvPicPr>
          <p:nvPr/>
        </p:nvPicPr>
        <p:blipFill>
          <a:blip r:embed="rId4"/>
          <a:stretch>
            <a:fillRect/>
          </a:stretch>
        </p:blipFill>
        <p:spPr>
          <a:xfrm>
            <a:off x="604837" y="1242536"/>
            <a:ext cx="431959" cy="431959"/>
          </a:xfrm>
          <a:prstGeom prst="rect">
            <a:avLst/>
          </a:prstGeom>
        </p:spPr>
      </p:pic>
      <p:sp>
        <p:nvSpPr>
          <p:cNvPr id="8" name="Text 2"/>
          <p:cNvSpPr/>
          <p:nvPr/>
        </p:nvSpPr>
        <p:spPr>
          <a:xfrm>
            <a:off x="604837" y="1847255"/>
            <a:ext cx="2033111" cy="254198"/>
          </a:xfrm>
          <a:prstGeom prst="rect">
            <a:avLst/>
          </a:prstGeom>
          <a:noFill/>
          <a:ln/>
        </p:spPr>
        <p:txBody>
          <a:bodyPr wrap="none" rtlCol="0" anchor="t"/>
          <a:lstStyle/>
          <a:p>
            <a:pPr algn="l" indent="0" marL="0">
              <a:lnSpc>
                <a:spcPts val="2001"/>
              </a:lnSpc>
              <a:buNone/>
            </a:pPr>
            <a:r>
              <a:rPr lang="en-US" sz="1601" dirty="0">
                <a:solidFill>
                  <a:srgbClr val="FFFFFF"/>
                </a:solidFill>
                <a:latin typeface="Unbounded" pitchFamily="34" charset="0"/>
                <a:ea typeface="Unbounded" pitchFamily="34" charset="-122"/>
                <a:cs typeface="Unbounded" pitchFamily="34" charset="-120"/>
              </a:rPr>
              <a:t>Secure Payment</a:t>
            </a:r>
            <a:endParaRPr lang="en-US" sz="1601" dirty="0"/>
          </a:p>
        </p:txBody>
      </p:sp>
      <p:sp>
        <p:nvSpPr>
          <p:cNvPr id="9" name="Text 3"/>
          <p:cNvSpPr/>
          <p:nvPr/>
        </p:nvSpPr>
        <p:spPr>
          <a:xfrm>
            <a:off x="604837" y="2205038"/>
            <a:ext cx="7934325" cy="276582"/>
          </a:xfrm>
          <a:prstGeom prst="rect">
            <a:avLst/>
          </a:prstGeom>
          <a:noFill/>
          <a:ln/>
        </p:spPr>
        <p:txBody>
          <a:bodyPr wrap="none" rtlCol="0" anchor="t"/>
          <a:lstStyle/>
          <a:p>
            <a:pPr algn="l" indent="0" marL="0">
              <a:lnSpc>
                <a:spcPts val="2177"/>
              </a:lnSpc>
              <a:buNone/>
            </a:pPr>
            <a:r>
              <a:rPr lang="en-US" sz="1361" dirty="0">
                <a:solidFill>
                  <a:srgbClr val="CAD6DE"/>
                </a:solidFill>
                <a:latin typeface="Cabin" pitchFamily="34" charset="0"/>
                <a:ea typeface="Cabin" pitchFamily="34" charset="-122"/>
                <a:cs typeface="Cabin" pitchFamily="34" charset="-120"/>
              </a:rPr>
              <a:t>Provide a variety of payment options, including credit/debit cards, digital wallets, and mobile payments.</a:t>
            </a:r>
            <a:endParaRPr lang="en-US" sz="1361" dirty="0"/>
          </a:p>
        </p:txBody>
      </p:sp>
      <p:pic>
        <p:nvPicPr>
          <p:cNvPr id="10" name="Image 4" descr="preencoded.png">    </p:cNvPr>
          <p:cNvPicPr>
            <a:picLocks noChangeAspect="1"/>
          </p:cNvPicPr>
          <p:nvPr/>
        </p:nvPicPr>
        <p:blipFill>
          <a:blip r:embed="rId5"/>
          <a:stretch>
            <a:fillRect/>
          </a:stretch>
        </p:blipFill>
        <p:spPr>
          <a:xfrm>
            <a:off x="604837" y="3000018"/>
            <a:ext cx="431959" cy="431959"/>
          </a:xfrm>
          <a:prstGeom prst="rect">
            <a:avLst/>
          </a:prstGeom>
        </p:spPr>
      </p:pic>
      <p:sp>
        <p:nvSpPr>
          <p:cNvPr id="11" name="Text 4"/>
          <p:cNvSpPr/>
          <p:nvPr/>
        </p:nvSpPr>
        <p:spPr>
          <a:xfrm>
            <a:off x="604837" y="3604736"/>
            <a:ext cx="2379226" cy="254198"/>
          </a:xfrm>
          <a:prstGeom prst="rect">
            <a:avLst/>
          </a:prstGeom>
          <a:noFill/>
          <a:ln/>
        </p:spPr>
        <p:txBody>
          <a:bodyPr wrap="none" rtlCol="0" anchor="t"/>
          <a:lstStyle/>
          <a:p>
            <a:pPr algn="l" indent="0" marL="0">
              <a:lnSpc>
                <a:spcPts val="2001"/>
              </a:lnSpc>
              <a:buNone/>
            </a:pPr>
            <a:r>
              <a:rPr lang="en-US" sz="1601" dirty="0">
                <a:solidFill>
                  <a:srgbClr val="FFFFFF"/>
                </a:solidFill>
                <a:latin typeface="Unbounded" pitchFamily="34" charset="0"/>
                <a:ea typeface="Unbounded" pitchFamily="34" charset="-122"/>
                <a:cs typeface="Unbounded" pitchFamily="34" charset="-120"/>
              </a:rPr>
              <a:t>Electronic Ticketing</a:t>
            </a:r>
            <a:endParaRPr lang="en-US" sz="1601" dirty="0"/>
          </a:p>
        </p:txBody>
      </p:sp>
      <p:sp>
        <p:nvSpPr>
          <p:cNvPr id="12" name="Text 5"/>
          <p:cNvSpPr/>
          <p:nvPr/>
        </p:nvSpPr>
        <p:spPr>
          <a:xfrm>
            <a:off x="604837" y="3962519"/>
            <a:ext cx="7934325" cy="276582"/>
          </a:xfrm>
          <a:prstGeom prst="rect">
            <a:avLst/>
          </a:prstGeom>
          <a:noFill/>
          <a:ln/>
        </p:spPr>
        <p:txBody>
          <a:bodyPr wrap="none" rtlCol="0" anchor="t"/>
          <a:lstStyle/>
          <a:p>
            <a:pPr algn="l" indent="0" marL="0">
              <a:lnSpc>
                <a:spcPts val="2177"/>
              </a:lnSpc>
              <a:buNone/>
            </a:pPr>
            <a:r>
              <a:rPr lang="en-US" sz="1361" dirty="0">
                <a:solidFill>
                  <a:srgbClr val="CAD6DE"/>
                </a:solidFill>
                <a:latin typeface="Cabin" pitchFamily="34" charset="0"/>
                <a:ea typeface="Cabin" pitchFamily="34" charset="-122"/>
                <a:cs typeface="Cabin" pitchFamily="34" charset="-120"/>
              </a:rPr>
              <a:t>Issue paperless, mobile-compatible tickets to simplify the check-in and boarding process.</a:t>
            </a:r>
            <a:endParaRPr lang="en-US" sz="1361" dirty="0"/>
          </a:p>
        </p:txBody>
      </p:sp>
      <p:pic>
        <p:nvPicPr>
          <p:cNvPr id="13" name="Image 5" descr="preencoded.png">    </p:cNvPr>
          <p:cNvPicPr>
            <a:picLocks noChangeAspect="1"/>
          </p:cNvPicPr>
          <p:nvPr/>
        </p:nvPicPr>
        <p:blipFill>
          <a:blip r:embed="rId6"/>
          <a:stretch>
            <a:fillRect/>
          </a:stretch>
        </p:blipFill>
        <p:spPr>
          <a:xfrm>
            <a:off x="604837" y="4757499"/>
            <a:ext cx="431959" cy="431959"/>
          </a:xfrm>
          <a:prstGeom prst="rect">
            <a:avLst/>
          </a:prstGeom>
        </p:spPr>
      </p:pic>
      <p:sp>
        <p:nvSpPr>
          <p:cNvPr id="14" name="Text 6"/>
          <p:cNvSpPr/>
          <p:nvPr/>
        </p:nvSpPr>
        <p:spPr>
          <a:xfrm>
            <a:off x="604837" y="5362218"/>
            <a:ext cx="2665095" cy="254198"/>
          </a:xfrm>
          <a:prstGeom prst="rect">
            <a:avLst/>
          </a:prstGeom>
          <a:noFill/>
          <a:ln/>
        </p:spPr>
        <p:txBody>
          <a:bodyPr wrap="none" rtlCol="0" anchor="t"/>
          <a:lstStyle/>
          <a:p>
            <a:pPr algn="l" indent="0" marL="0">
              <a:lnSpc>
                <a:spcPts val="2001"/>
              </a:lnSpc>
              <a:buNone/>
            </a:pPr>
            <a:r>
              <a:rPr lang="en-US" sz="1601" dirty="0">
                <a:solidFill>
                  <a:srgbClr val="FFFFFF"/>
                </a:solidFill>
                <a:latin typeface="Unbounded" pitchFamily="34" charset="0"/>
                <a:ea typeface="Unbounded" pitchFamily="34" charset="-122"/>
                <a:cs typeface="Unbounded" pitchFamily="34" charset="-120"/>
              </a:rPr>
              <a:t>Booking Confirmation</a:t>
            </a:r>
            <a:endParaRPr lang="en-US" sz="1601" dirty="0"/>
          </a:p>
        </p:txBody>
      </p:sp>
      <p:sp>
        <p:nvSpPr>
          <p:cNvPr id="15" name="Text 7"/>
          <p:cNvSpPr/>
          <p:nvPr/>
        </p:nvSpPr>
        <p:spPr>
          <a:xfrm>
            <a:off x="604837" y="5720001"/>
            <a:ext cx="7934325" cy="553164"/>
          </a:xfrm>
          <a:prstGeom prst="rect">
            <a:avLst/>
          </a:prstGeom>
          <a:noFill/>
          <a:ln/>
        </p:spPr>
        <p:txBody>
          <a:bodyPr wrap="square" rtlCol="0" anchor="t"/>
          <a:lstStyle/>
          <a:p>
            <a:pPr algn="l" indent="0" marL="0">
              <a:lnSpc>
                <a:spcPts val="2177"/>
              </a:lnSpc>
              <a:buNone/>
            </a:pPr>
            <a:r>
              <a:rPr lang="en-US" sz="1361" dirty="0">
                <a:solidFill>
                  <a:srgbClr val="CAD6DE"/>
                </a:solidFill>
                <a:latin typeface="Cabin" pitchFamily="34" charset="0"/>
                <a:ea typeface="Cabin" pitchFamily="34" charset="-122"/>
                <a:cs typeface="Cabin" pitchFamily="34" charset="-120"/>
              </a:rPr>
              <a:t>Deliver comprehensive booking confirmations with travel details, baggage information, and loyalty program updates.</a:t>
            </a:r>
            <a:endParaRPr lang="en-US" sz="1361" dirty="0"/>
          </a:p>
        </p:txBody>
      </p:sp>
      <p:pic>
        <p:nvPicPr>
          <p:cNvPr id="16" name="Image 6" descr="preencoded.png">    </p:cNvPr>
          <p:cNvPicPr>
            <a:picLocks noChangeAspect="1"/>
          </p:cNvPicPr>
          <p:nvPr/>
        </p:nvPicPr>
        <p:blipFill>
          <a:blip r:embed="rId7"/>
          <a:stretch>
            <a:fillRect/>
          </a:stretch>
        </p:blipFill>
        <p:spPr>
          <a:xfrm>
            <a:off x="604837" y="6791563"/>
            <a:ext cx="431959" cy="431959"/>
          </a:xfrm>
          <a:prstGeom prst="rect">
            <a:avLst/>
          </a:prstGeom>
        </p:spPr>
      </p:pic>
      <p:sp>
        <p:nvSpPr>
          <p:cNvPr id="17" name="Text 8"/>
          <p:cNvSpPr/>
          <p:nvPr/>
        </p:nvSpPr>
        <p:spPr>
          <a:xfrm>
            <a:off x="604837" y="7396282"/>
            <a:ext cx="2033111" cy="254198"/>
          </a:xfrm>
          <a:prstGeom prst="rect">
            <a:avLst/>
          </a:prstGeom>
          <a:noFill/>
          <a:ln/>
        </p:spPr>
        <p:txBody>
          <a:bodyPr wrap="none" rtlCol="0" anchor="t"/>
          <a:lstStyle/>
          <a:p>
            <a:pPr algn="l" indent="0" marL="0">
              <a:lnSpc>
                <a:spcPts val="2001"/>
              </a:lnSpc>
              <a:buNone/>
            </a:pPr>
            <a:r>
              <a:rPr lang="en-US" sz="1601" dirty="0">
                <a:solidFill>
                  <a:srgbClr val="FFFFFF"/>
                </a:solidFill>
                <a:latin typeface="Unbounded" pitchFamily="34" charset="0"/>
                <a:ea typeface="Unbounded" pitchFamily="34" charset="-122"/>
                <a:cs typeface="Unbounded" pitchFamily="34" charset="-120"/>
              </a:rPr>
              <a:t>24/7 Support</a:t>
            </a:r>
            <a:endParaRPr lang="en-US" sz="1601" dirty="0"/>
          </a:p>
        </p:txBody>
      </p:sp>
      <p:sp>
        <p:nvSpPr>
          <p:cNvPr id="18" name="Text 9"/>
          <p:cNvSpPr/>
          <p:nvPr/>
        </p:nvSpPr>
        <p:spPr>
          <a:xfrm>
            <a:off x="604837" y="7754064"/>
            <a:ext cx="7934325" cy="553164"/>
          </a:xfrm>
          <a:prstGeom prst="rect">
            <a:avLst/>
          </a:prstGeom>
          <a:noFill/>
          <a:ln/>
        </p:spPr>
        <p:txBody>
          <a:bodyPr wrap="square" rtlCol="0" anchor="t"/>
          <a:lstStyle/>
          <a:p>
            <a:pPr algn="l" indent="0" marL="0">
              <a:lnSpc>
                <a:spcPts val="2177"/>
              </a:lnSpc>
              <a:buNone/>
            </a:pPr>
            <a:r>
              <a:rPr lang="en-US" sz="1361" dirty="0">
                <a:solidFill>
                  <a:srgbClr val="CAD6DE"/>
                </a:solidFill>
                <a:latin typeface="Cabin" pitchFamily="34" charset="0"/>
                <a:ea typeface="Cabin" pitchFamily="34" charset="-122"/>
                <a:cs typeface="Cabin" pitchFamily="34" charset="-120"/>
              </a:rPr>
              <a:t>Offer dedicated customer support channels for seamless assistance throughout the booking and travel experience.</a:t>
            </a:r>
            <a:endParaRPr lang="en-US" sz="1361" dirty="0"/>
          </a:p>
        </p:txBody>
      </p:sp>
      <p:pic>
        <p:nvPicPr>
          <p:cNvPr id="19" name="Image 7" descr="preencoded.png">
            <a:hlinkClick r:id="rId9" tooltip=""/>
          </p:cNvPr>
          <p:cNvPicPr>
            <a:picLocks noChangeAspect="1"/>
          </p:cNvPicPr>
          <p:nvPr/>
        </p:nvPicPr>
        <p:blipFill>
          <a:blip r:embed="rId8"/>
          <a:stretch>
            <a:fillRect/>
          </a:stretch>
        </p:blipFill>
        <p:spPr>
          <a:xfrm>
            <a:off x="12242153" y="7589520"/>
            <a:ext cx="2296807"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pic>
        <p:nvPicPr>
          <p:cNvPr id="5" name="Image 2" descr="preencoded.png">    </p:cNvPr>
          <p:cNvPicPr>
            <a:picLocks noChangeAspect="1"/>
          </p:cNvPicPr>
          <p:nvPr/>
        </p:nvPicPr>
        <p:blipFill>
          <a:blip r:embed="rId3"/>
          <a:stretch>
            <a:fillRect/>
          </a:stretch>
        </p:blipFill>
        <p:spPr>
          <a:xfrm>
            <a:off x="216098" y="2693313"/>
            <a:ext cx="5054084" cy="2842974"/>
          </a:xfrm>
          <a:prstGeom prst="rect">
            <a:avLst/>
          </a:prstGeom>
        </p:spPr>
      </p:pic>
      <p:sp>
        <p:nvSpPr>
          <p:cNvPr id="6" name="Text 1"/>
          <p:cNvSpPr/>
          <p:nvPr/>
        </p:nvSpPr>
        <p:spPr>
          <a:xfrm>
            <a:off x="6091595" y="1006078"/>
            <a:ext cx="7933611" cy="1017032"/>
          </a:xfrm>
          <a:prstGeom prst="rect">
            <a:avLst/>
          </a:prstGeom>
          <a:noFill/>
          <a:ln/>
        </p:spPr>
        <p:txBody>
          <a:bodyPr wrap="square" rtlCol="0" anchor="t"/>
          <a:lstStyle/>
          <a:p>
            <a:pPr indent="0" marL="0">
              <a:lnSpc>
                <a:spcPts val="4005"/>
              </a:lnSpc>
              <a:buNone/>
            </a:pPr>
            <a:r>
              <a:rPr lang="en-US" sz="3204" dirty="0">
                <a:solidFill>
                  <a:srgbClr val="FFFFFF"/>
                </a:solidFill>
                <a:latin typeface="Unbounded" pitchFamily="34" charset="0"/>
                <a:ea typeface="Unbounded" pitchFamily="34" charset="-122"/>
                <a:cs typeface="Unbounded" pitchFamily="34" charset="-120"/>
              </a:rPr>
              <a:t>Conclusion and Future Enhancements</a:t>
            </a:r>
            <a:endParaRPr lang="en-US" sz="3204" dirty="0"/>
          </a:p>
        </p:txBody>
      </p:sp>
      <p:sp>
        <p:nvSpPr>
          <p:cNvPr id="7" name="Shape 2"/>
          <p:cNvSpPr/>
          <p:nvPr/>
        </p:nvSpPr>
        <p:spPr>
          <a:xfrm>
            <a:off x="6091595" y="2476857"/>
            <a:ext cx="388977" cy="388977"/>
          </a:xfrm>
          <a:prstGeom prst="roundRect">
            <a:avLst>
              <a:gd name="adj" fmla="val 13336"/>
            </a:avLst>
          </a:prstGeom>
          <a:solidFill>
            <a:srgbClr val="223D4D"/>
          </a:solidFill>
          <a:ln/>
        </p:spPr>
      </p:sp>
      <p:sp>
        <p:nvSpPr>
          <p:cNvPr id="8" name="Text 3"/>
          <p:cNvSpPr/>
          <p:nvPr/>
        </p:nvSpPr>
        <p:spPr>
          <a:xfrm>
            <a:off x="6228517" y="2549247"/>
            <a:ext cx="115014" cy="244078"/>
          </a:xfrm>
          <a:prstGeom prst="rect">
            <a:avLst/>
          </a:prstGeom>
          <a:noFill/>
          <a:ln/>
        </p:spPr>
        <p:txBody>
          <a:bodyPr wrap="none" rtlCol="0" anchor="t"/>
          <a:lstStyle/>
          <a:p>
            <a:pPr algn="ctr" indent="0" marL="0">
              <a:lnSpc>
                <a:spcPts val="1922"/>
              </a:lnSpc>
              <a:buNone/>
            </a:pPr>
            <a:r>
              <a:rPr lang="en-US" sz="1922" dirty="0">
                <a:solidFill>
                  <a:srgbClr val="FFFFFF"/>
                </a:solidFill>
                <a:latin typeface="Unbounded" pitchFamily="34" charset="0"/>
                <a:ea typeface="Unbounded" pitchFamily="34" charset="-122"/>
                <a:cs typeface="Unbounded" pitchFamily="34" charset="-120"/>
              </a:rPr>
              <a:t>1</a:t>
            </a:r>
            <a:endParaRPr lang="en-US" sz="1922" dirty="0"/>
          </a:p>
        </p:txBody>
      </p:sp>
      <p:sp>
        <p:nvSpPr>
          <p:cNvPr id="9" name="Text 4"/>
          <p:cNvSpPr/>
          <p:nvPr/>
        </p:nvSpPr>
        <p:spPr>
          <a:xfrm>
            <a:off x="6653451" y="2476857"/>
            <a:ext cx="2741176" cy="254317"/>
          </a:xfrm>
          <a:prstGeom prst="rect">
            <a:avLst/>
          </a:prstGeom>
          <a:noFill/>
          <a:ln/>
        </p:spPr>
        <p:txBody>
          <a:bodyPr wrap="none" rtlCol="0" anchor="t"/>
          <a:lstStyle/>
          <a:p>
            <a:pPr indent="0" marL="0">
              <a:lnSpc>
                <a:spcPts val="2002"/>
              </a:lnSpc>
              <a:buNone/>
            </a:pPr>
            <a:r>
              <a:rPr lang="en-US" sz="1602" dirty="0">
                <a:solidFill>
                  <a:srgbClr val="FFFFFF"/>
                </a:solidFill>
                <a:latin typeface="Unbounded" pitchFamily="34" charset="0"/>
                <a:ea typeface="Unbounded" pitchFamily="34" charset="-122"/>
                <a:cs typeface="Unbounded" pitchFamily="34" charset="-120"/>
              </a:rPr>
              <a:t>Continuous Innovation</a:t>
            </a:r>
            <a:endParaRPr lang="en-US" sz="1602" dirty="0"/>
          </a:p>
        </p:txBody>
      </p:sp>
      <p:sp>
        <p:nvSpPr>
          <p:cNvPr id="10" name="Text 5"/>
          <p:cNvSpPr/>
          <p:nvPr/>
        </p:nvSpPr>
        <p:spPr>
          <a:xfrm>
            <a:off x="6653451" y="2834878"/>
            <a:ext cx="7371755" cy="553164"/>
          </a:xfrm>
          <a:prstGeom prst="rect">
            <a:avLst/>
          </a:prstGeom>
          <a:noFill/>
          <a:ln/>
        </p:spPr>
        <p:txBody>
          <a:bodyPr wrap="square" rtlCol="0" anchor="t"/>
          <a:lstStyle/>
          <a:p>
            <a:pPr indent="0" marL="0">
              <a:lnSpc>
                <a:spcPts val="2178"/>
              </a:lnSpc>
              <a:buNone/>
            </a:pPr>
            <a:r>
              <a:rPr lang="en-US" sz="1362" dirty="0">
                <a:solidFill>
                  <a:srgbClr val="CAD6DE"/>
                </a:solidFill>
                <a:latin typeface="Cabin" pitchFamily="34" charset="0"/>
                <a:ea typeface="Cabin" pitchFamily="34" charset="-122"/>
                <a:cs typeface="Cabin" pitchFamily="34" charset="-120"/>
              </a:rPr>
              <a:t>Regularly update the system to incorporate the latest technologies, industry trends, and customer preferences.</a:t>
            </a:r>
            <a:endParaRPr lang="en-US" sz="1362" dirty="0"/>
          </a:p>
        </p:txBody>
      </p:sp>
      <p:sp>
        <p:nvSpPr>
          <p:cNvPr id="11" name="Shape 6"/>
          <p:cNvSpPr/>
          <p:nvPr/>
        </p:nvSpPr>
        <p:spPr>
          <a:xfrm>
            <a:off x="6091595" y="3755350"/>
            <a:ext cx="388977" cy="388977"/>
          </a:xfrm>
          <a:prstGeom prst="roundRect">
            <a:avLst>
              <a:gd name="adj" fmla="val 13336"/>
            </a:avLst>
          </a:prstGeom>
          <a:solidFill>
            <a:srgbClr val="223D4D"/>
          </a:solidFill>
          <a:ln/>
        </p:spPr>
      </p:sp>
      <p:sp>
        <p:nvSpPr>
          <p:cNvPr id="12" name="Text 7"/>
          <p:cNvSpPr/>
          <p:nvPr/>
        </p:nvSpPr>
        <p:spPr>
          <a:xfrm>
            <a:off x="6189821" y="3827740"/>
            <a:ext cx="192524" cy="244078"/>
          </a:xfrm>
          <a:prstGeom prst="rect">
            <a:avLst/>
          </a:prstGeom>
          <a:noFill/>
          <a:ln/>
        </p:spPr>
        <p:txBody>
          <a:bodyPr wrap="none" rtlCol="0" anchor="t"/>
          <a:lstStyle/>
          <a:p>
            <a:pPr algn="ctr" indent="0" marL="0">
              <a:lnSpc>
                <a:spcPts val="1922"/>
              </a:lnSpc>
              <a:buNone/>
            </a:pPr>
            <a:r>
              <a:rPr lang="en-US" sz="1922" dirty="0">
                <a:solidFill>
                  <a:srgbClr val="FFFFFF"/>
                </a:solidFill>
                <a:latin typeface="Unbounded" pitchFamily="34" charset="0"/>
                <a:ea typeface="Unbounded" pitchFamily="34" charset="-122"/>
                <a:cs typeface="Unbounded" pitchFamily="34" charset="-120"/>
              </a:rPr>
              <a:t>2</a:t>
            </a:r>
            <a:endParaRPr lang="en-US" sz="1922" dirty="0"/>
          </a:p>
        </p:txBody>
      </p:sp>
      <p:sp>
        <p:nvSpPr>
          <p:cNvPr id="13" name="Text 8"/>
          <p:cNvSpPr/>
          <p:nvPr/>
        </p:nvSpPr>
        <p:spPr>
          <a:xfrm>
            <a:off x="6653451" y="3755350"/>
            <a:ext cx="2460069" cy="254317"/>
          </a:xfrm>
          <a:prstGeom prst="rect">
            <a:avLst/>
          </a:prstGeom>
          <a:noFill/>
          <a:ln/>
        </p:spPr>
        <p:txBody>
          <a:bodyPr wrap="none" rtlCol="0" anchor="t"/>
          <a:lstStyle/>
          <a:p>
            <a:pPr indent="0" marL="0">
              <a:lnSpc>
                <a:spcPts val="2002"/>
              </a:lnSpc>
              <a:buNone/>
            </a:pPr>
            <a:r>
              <a:rPr lang="en-US" sz="1602" dirty="0">
                <a:solidFill>
                  <a:srgbClr val="FFFFFF"/>
                </a:solidFill>
                <a:latin typeface="Unbounded" pitchFamily="34" charset="0"/>
                <a:ea typeface="Unbounded" pitchFamily="34" charset="-122"/>
                <a:cs typeface="Unbounded" pitchFamily="34" charset="-120"/>
              </a:rPr>
              <a:t>Artificial Intelligence</a:t>
            </a:r>
            <a:endParaRPr lang="en-US" sz="1602" dirty="0"/>
          </a:p>
        </p:txBody>
      </p:sp>
      <p:sp>
        <p:nvSpPr>
          <p:cNvPr id="14" name="Text 9"/>
          <p:cNvSpPr/>
          <p:nvPr/>
        </p:nvSpPr>
        <p:spPr>
          <a:xfrm>
            <a:off x="6653451" y="4113371"/>
            <a:ext cx="7371755" cy="553164"/>
          </a:xfrm>
          <a:prstGeom prst="rect">
            <a:avLst/>
          </a:prstGeom>
          <a:noFill/>
          <a:ln/>
        </p:spPr>
        <p:txBody>
          <a:bodyPr wrap="square" rtlCol="0" anchor="t"/>
          <a:lstStyle/>
          <a:p>
            <a:pPr indent="0" marL="0">
              <a:lnSpc>
                <a:spcPts val="2178"/>
              </a:lnSpc>
              <a:buNone/>
            </a:pPr>
            <a:r>
              <a:rPr lang="en-US" sz="1362" dirty="0">
                <a:solidFill>
                  <a:srgbClr val="CAD6DE"/>
                </a:solidFill>
                <a:latin typeface="Cabin" pitchFamily="34" charset="0"/>
                <a:ea typeface="Cabin" pitchFamily="34" charset="-122"/>
                <a:cs typeface="Cabin" pitchFamily="34" charset="-120"/>
              </a:rPr>
              <a:t>Leverage AI and machine learning to provide personalized recommendations, predictive analytics, and intelligent decision-making.</a:t>
            </a:r>
            <a:endParaRPr lang="en-US" sz="1362" dirty="0"/>
          </a:p>
        </p:txBody>
      </p:sp>
      <p:sp>
        <p:nvSpPr>
          <p:cNvPr id="15" name="Shape 10"/>
          <p:cNvSpPr/>
          <p:nvPr/>
        </p:nvSpPr>
        <p:spPr>
          <a:xfrm>
            <a:off x="6091595" y="5033843"/>
            <a:ext cx="388977" cy="388977"/>
          </a:xfrm>
          <a:prstGeom prst="roundRect">
            <a:avLst>
              <a:gd name="adj" fmla="val 13336"/>
            </a:avLst>
          </a:prstGeom>
          <a:solidFill>
            <a:srgbClr val="223D4D"/>
          </a:solidFill>
          <a:ln/>
        </p:spPr>
      </p:sp>
      <p:sp>
        <p:nvSpPr>
          <p:cNvPr id="16" name="Text 11"/>
          <p:cNvSpPr/>
          <p:nvPr/>
        </p:nvSpPr>
        <p:spPr>
          <a:xfrm>
            <a:off x="6187916" y="5106233"/>
            <a:ext cx="196215" cy="244078"/>
          </a:xfrm>
          <a:prstGeom prst="rect">
            <a:avLst/>
          </a:prstGeom>
          <a:noFill/>
          <a:ln/>
        </p:spPr>
        <p:txBody>
          <a:bodyPr wrap="none" rtlCol="0" anchor="t"/>
          <a:lstStyle/>
          <a:p>
            <a:pPr algn="ctr" indent="0" marL="0">
              <a:lnSpc>
                <a:spcPts val="1922"/>
              </a:lnSpc>
              <a:buNone/>
            </a:pPr>
            <a:r>
              <a:rPr lang="en-US" sz="1922" dirty="0">
                <a:solidFill>
                  <a:srgbClr val="FFFFFF"/>
                </a:solidFill>
                <a:latin typeface="Unbounded" pitchFamily="34" charset="0"/>
                <a:ea typeface="Unbounded" pitchFamily="34" charset="-122"/>
                <a:cs typeface="Unbounded" pitchFamily="34" charset="-120"/>
              </a:rPr>
              <a:t>3</a:t>
            </a:r>
            <a:endParaRPr lang="en-US" sz="1922" dirty="0"/>
          </a:p>
        </p:txBody>
      </p:sp>
      <p:sp>
        <p:nvSpPr>
          <p:cNvPr id="17" name="Text 12"/>
          <p:cNvSpPr/>
          <p:nvPr/>
        </p:nvSpPr>
        <p:spPr>
          <a:xfrm>
            <a:off x="6653451" y="5033843"/>
            <a:ext cx="2781181" cy="254317"/>
          </a:xfrm>
          <a:prstGeom prst="rect">
            <a:avLst/>
          </a:prstGeom>
          <a:noFill/>
          <a:ln/>
        </p:spPr>
        <p:txBody>
          <a:bodyPr wrap="none" rtlCol="0" anchor="t"/>
          <a:lstStyle/>
          <a:p>
            <a:pPr indent="0" marL="0">
              <a:lnSpc>
                <a:spcPts val="2002"/>
              </a:lnSpc>
              <a:buNone/>
            </a:pPr>
            <a:r>
              <a:rPr lang="en-US" sz="1602" dirty="0">
                <a:solidFill>
                  <a:srgbClr val="FFFFFF"/>
                </a:solidFill>
                <a:latin typeface="Unbounded" pitchFamily="34" charset="0"/>
                <a:ea typeface="Unbounded" pitchFamily="34" charset="-122"/>
                <a:cs typeface="Unbounded" pitchFamily="34" charset="-120"/>
              </a:rPr>
              <a:t>Multimodal Integration</a:t>
            </a:r>
            <a:endParaRPr lang="en-US" sz="1602" dirty="0"/>
          </a:p>
        </p:txBody>
      </p:sp>
      <p:sp>
        <p:nvSpPr>
          <p:cNvPr id="18" name="Text 13"/>
          <p:cNvSpPr/>
          <p:nvPr/>
        </p:nvSpPr>
        <p:spPr>
          <a:xfrm>
            <a:off x="6653451" y="5391864"/>
            <a:ext cx="7371755" cy="553164"/>
          </a:xfrm>
          <a:prstGeom prst="rect">
            <a:avLst/>
          </a:prstGeom>
          <a:noFill/>
          <a:ln/>
        </p:spPr>
        <p:txBody>
          <a:bodyPr wrap="square" rtlCol="0" anchor="t"/>
          <a:lstStyle/>
          <a:p>
            <a:pPr indent="0" marL="0">
              <a:lnSpc>
                <a:spcPts val="2178"/>
              </a:lnSpc>
              <a:buNone/>
            </a:pPr>
            <a:r>
              <a:rPr lang="en-US" sz="1362" dirty="0">
                <a:solidFill>
                  <a:srgbClr val="CAD6DE"/>
                </a:solidFill>
                <a:latin typeface="Cabin" pitchFamily="34" charset="0"/>
                <a:ea typeface="Cabin" pitchFamily="34" charset="-122"/>
                <a:cs typeface="Cabin" pitchFamily="34" charset="-120"/>
              </a:rPr>
              <a:t>Seamlessly integrate the airline reservation system with other transportation modes, such as trains, buses, and ridesharing services.</a:t>
            </a:r>
            <a:endParaRPr lang="en-US" sz="1362" dirty="0"/>
          </a:p>
        </p:txBody>
      </p:sp>
      <p:sp>
        <p:nvSpPr>
          <p:cNvPr id="19" name="Shape 14"/>
          <p:cNvSpPr/>
          <p:nvPr/>
        </p:nvSpPr>
        <p:spPr>
          <a:xfrm>
            <a:off x="6091595" y="6312337"/>
            <a:ext cx="388977" cy="388977"/>
          </a:xfrm>
          <a:prstGeom prst="roundRect">
            <a:avLst>
              <a:gd name="adj" fmla="val 13336"/>
            </a:avLst>
          </a:prstGeom>
          <a:solidFill>
            <a:srgbClr val="223D4D"/>
          </a:solidFill>
          <a:ln/>
        </p:spPr>
      </p:sp>
      <p:sp>
        <p:nvSpPr>
          <p:cNvPr id="20" name="Text 15"/>
          <p:cNvSpPr/>
          <p:nvPr/>
        </p:nvSpPr>
        <p:spPr>
          <a:xfrm>
            <a:off x="6188035" y="6384727"/>
            <a:ext cx="195977" cy="244078"/>
          </a:xfrm>
          <a:prstGeom prst="rect">
            <a:avLst/>
          </a:prstGeom>
          <a:noFill/>
          <a:ln/>
        </p:spPr>
        <p:txBody>
          <a:bodyPr wrap="none" rtlCol="0" anchor="t"/>
          <a:lstStyle/>
          <a:p>
            <a:pPr algn="ctr" indent="0" marL="0">
              <a:lnSpc>
                <a:spcPts val="1922"/>
              </a:lnSpc>
              <a:buNone/>
            </a:pPr>
            <a:r>
              <a:rPr lang="en-US" sz="1922" dirty="0">
                <a:solidFill>
                  <a:srgbClr val="FFFFFF"/>
                </a:solidFill>
                <a:latin typeface="Unbounded" pitchFamily="34" charset="0"/>
                <a:ea typeface="Unbounded" pitchFamily="34" charset="-122"/>
                <a:cs typeface="Unbounded" pitchFamily="34" charset="-120"/>
              </a:rPr>
              <a:t>4</a:t>
            </a:r>
            <a:endParaRPr lang="en-US" sz="1922" dirty="0"/>
          </a:p>
        </p:txBody>
      </p:sp>
      <p:sp>
        <p:nvSpPr>
          <p:cNvPr id="21" name="Text 16"/>
          <p:cNvSpPr/>
          <p:nvPr/>
        </p:nvSpPr>
        <p:spPr>
          <a:xfrm>
            <a:off x="6653451" y="6312337"/>
            <a:ext cx="2898458" cy="254317"/>
          </a:xfrm>
          <a:prstGeom prst="rect">
            <a:avLst/>
          </a:prstGeom>
          <a:noFill/>
          <a:ln/>
        </p:spPr>
        <p:txBody>
          <a:bodyPr wrap="none" rtlCol="0" anchor="t"/>
          <a:lstStyle/>
          <a:p>
            <a:pPr indent="0" marL="0">
              <a:lnSpc>
                <a:spcPts val="2002"/>
              </a:lnSpc>
              <a:buNone/>
            </a:pPr>
            <a:r>
              <a:rPr lang="en-US" sz="1602" dirty="0">
                <a:solidFill>
                  <a:srgbClr val="FFFFFF"/>
                </a:solidFill>
                <a:latin typeface="Unbounded" pitchFamily="34" charset="0"/>
                <a:ea typeface="Unbounded" pitchFamily="34" charset="-122"/>
                <a:cs typeface="Unbounded" pitchFamily="34" charset="-120"/>
              </a:rPr>
              <a:t>Sustainability Initiatives</a:t>
            </a:r>
            <a:endParaRPr lang="en-US" sz="1602" dirty="0"/>
          </a:p>
        </p:txBody>
      </p:sp>
      <p:sp>
        <p:nvSpPr>
          <p:cNvPr id="22" name="Text 17"/>
          <p:cNvSpPr/>
          <p:nvPr/>
        </p:nvSpPr>
        <p:spPr>
          <a:xfrm>
            <a:off x="6653451" y="6670358"/>
            <a:ext cx="7371755" cy="553164"/>
          </a:xfrm>
          <a:prstGeom prst="rect">
            <a:avLst/>
          </a:prstGeom>
          <a:noFill/>
          <a:ln/>
        </p:spPr>
        <p:txBody>
          <a:bodyPr wrap="square" rtlCol="0" anchor="t"/>
          <a:lstStyle/>
          <a:p>
            <a:pPr indent="0" marL="0">
              <a:lnSpc>
                <a:spcPts val="2178"/>
              </a:lnSpc>
              <a:buNone/>
            </a:pPr>
            <a:r>
              <a:rPr lang="en-US" sz="1362" dirty="0">
                <a:solidFill>
                  <a:srgbClr val="CAD6DE"/>
                </a:solidFill>
                <a:latin typeface="Cabin" pitchFamily="34" charset="0"/>
                <a:ea typeface="Cabin" pitchFamily="34" charset="-122"/>
                <a:cs typeface="Cabin" pitchFamily="34" charset="-120"/>
              </a:rPr>
              <a:t>Explore eco-friendly features, such as carbon offset options and digital documentation, to promote sustainable travel.</a:t>
            </a:r>
            <a:endParaRPr lang="en-US" sz="1362" dirty="0"/>
          </a:p>
        </p:txBody>
      </p:sp>
      <p:pic>
        <p:nvPicPr>
          <p:cNvPr id="23" name="Image 3" descr="preencoded.png">
            <a:hlinkClick r:id="rId5" tooltip=""/>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2024-06-30T15:59:51Z</dcterms:created>
  <dcterms:modified xsi:type="dcterms:W3CDTF">2024-06-30T15:59:51Z</dcterms:modified>
</cp:coreProperties>
</file>